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f8449c4ba4321" /><Relationship Type="http://schemas.openxmlformats.org/officeDocument/2006/relationships/extended-properties" Target="/docProps/app.xml" Id="R2e6b81ad24664a37" /><Relationship Type="http://schemas.openxmlformats.org/officeDocument/2006/relationships/officeDocument" Target="/ppt/presentation.xml" Id="R63093fa2c26b44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e5ca90bbff4520"/>
  </p:sldMasterIdLst>
  <p:notesMasterIdLst>
    <p:notesMasterId xmlns:r="http://schemas.openxmlformats.org/officeDocument/2006/relationships" r:id="R17bbb48a4a0a4b63"/>
  </p:notesMasterIdLst>
  <p:sldIdLst>
    <p:sldId xmlns:r="http://schemas.openxmlformats.org/officeDocument/2006/relationships" id="256" r:id="Re9fc64097c634079"/>
    <p:sldId xmlns:r="http://schemas.openxmlformats.org/officeDocument/2006/relationships" id="257" r:id="R22ce441c9ed54abc"/>
    <p:sldId xmlns:r="http://schemas.openxmlformats.org/officeDocument/2006/relationships" id="258" r:id="R7ec8100f245a485b"/>
    <p:sldId xmlns:r="http://schemas.openxmlformats.org/officeDocument/2006/relationships" id="259" r:id="R65dfc1e2dd234f9d"/>
    <p:sldId xmlns:r="http://schemas.openxmlformats.org/officeDocument/2006/relationships" id="260" r:id="R11b8b8f693ae4e45"/>
    <p:sldId xmlns:r="http://schemas.openxmlformats.org/officeDocument/2006/relationships" id="261" r:id="R1ce013a9975c485c"/>
    <p:sldId xmlns:r="http://schemas.openxmlformats.org/officeDocument/2006/relationships" id="262" r:id="Rb1725fd6888342d9"/>
    <p:sldId xmlns:r="http://schemas.openxmlformats.org/officeDocument/2006/relationships" id="263" r:id="R56b6b482a74b4229"/>
    <p:sldId xmlns:r="http://schemas.openxmlformats.org/officeDocument/2006/relationships" id="264" r:id="Rec3cb594d2334a12"/>
    <p:sldId xmlns:r="http://schemas.openxmlformats.org/officeDocument/2006/relationships" id="265" r:id="R68530a34a833496c"/>
    <p:sldId xmlns:r="http://schemas.openxmlformats.org/officeDocument/2006/relationships" id="266" r:id="R4749cdc62f9344aa"/>
    <p:sldId xmlns:r="http://schemas.openxmlformats.org/officeDocument/2006/relationships" id="267" r:id="R65bb45f942494f2e"/>
    <p:sldId xmlns:r="http://schemas.openxmlformats.org/officeDocument/2006/relationships" id="268" r:id="R0cbcfa7d31724225"/>
    <p:sldId xmlns:r="http://schemas.openxmlformats.org/officeDocument/2006/relationships" id="269" r:id="R8b80eba06bb14480"/>
    <p:sldId xmlns:r="http://schemas.openxmlformats.org/officeDocument/2006/relationships" id="270" r:id="Rdc5ed7ae27074259"/>
    <p:sldId xmlns:r="http://schemas.openxmlformats.org/officeDocument/2006/relationships" id="271" r:id="R1a8f80e9f8274af5"/>
    <p:sldId xmlns:r="http://schemas.openxmlformats.org/officeDocument/2006/relationships" id="272" r:id="Ra55bd558cca24a78"/>
    <p:sldId xmlns:r="http://schemas.openxmlformats.org/officeDocument/2006/relationships" id="273" r:id="R311af9df49124c85"/>
    <p:sldId xmlns:r="http://schemas.openxmlformats.org/officeDocument/2006/relationships" id="274" r:id="Rf287829310654116"/>
    <p:sldId xmlns:r="http://schemas.openxmlformats.org/officeDocument/2006/relationships" id="275" r:id="R5a0c156976674660"/>
    <p:sldId xmlns:r="http://schemas.openxmlformats.org/officeDocument/2006/relationships" id="276" r:id="Rc4c67edfd2a14a5b"/>
    <p:sldId xmlns:r="http://schemas.openxmlformats.org/officeDocument/2006/relationships" id="277" r:id="R66685c00992d4ee9"/>
    <p:sldId xmlns:r="http://schemas.openxmlformats.org/officeDocument/2006/relationships" id="278" r:id="Rab67f101f0ee44a1"/>
    <p:sldId xmlns:r="http://schemas.openxmlformats.org/officeDocument/2006/relationships" id="279" r:id="Rff85d3f63fa34ce3"/>
    <p:sldId xmlns:r="http://schemas.openxmlformats.org/officeDocument/2006/relationships" id="280" r:id="Rabaaa50057bc410c"/>
    <p:sldId xmlns:r="http://schemas.openxmlformats.org/officeDocument/2006/relationships" id="281" r:id="R04ef058de57d4b6c"/>
    <p:sldId xmlns:r="http://schemas.openxmlformats.org/officeDocument/2006/relationships" id="282" r:id="R4190494ec6474e65"/>
    <p:sldId xmlns:r="http://schemas.openxmlformats.org/officeDocument/2006/relationships" id="283" r:id="R728078ea1b824b27"/>
    <p:sldId xmlns:r="http://schemas.openxmlformats.org/officeDocument/2006/relationships" id="284" r:id="R60e8fad9376645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8892a6e2441e5" /><Relationship Type="http://schemas.openxmlformats.org/officeDocument/2006/relationships/slideMaster" Target="/ppt/slideMasters/slideMaster1.xml" Id="R6ce5ca90bbff4520" /><Relationship Type="http://schemas.openxmlformats.org/officeDocument/2006/relationships/notesMaster" Target="/ppt/notesMasters/notesMaster1.xml" Id="R17bbb48a4a0a4b63" /><Relationship Type="http://schemas.openxmlformats.org/officeDocument/2006/relationships/presProps" Target="/ppt/presProps.xml" Id="R75d5fec746414dc2" /><Relationship Type="http://schemas.openxmlformats.org/officeDocument/2006/relationships/tableStyles" Target="/ppt/tableStyles.xml" Id="Rd561867725b040b1" /><Relationship Type="http://schemas.openxmlformats.org/officeDocument/2006/relationships/slide" Target="/ppt/slides/slide1.xml" Id="Re9fc64097c634079" /><Relationship Type="http://schemas.openxmlformats.org/officeDocument/2006/relationships/slide" Target="/ppt/slides/slide2.xml" Id="R22ce441c9ed54abc" /><Relationship Type="http://schemas.openxmlformats.org/officeDocument/2006/relationships/slide" Target="/ppt/slides/slide3.xml" Id="R7ec8100f245a485b" /><Relationship Type="http://schemas.openxmlformats.org/officeDocument/2006/relationships/slide" Target="/ppt/slides/slide4.xml" Id="R65dfc1e2dd234f9d" /><Relationship Type="http://schemas.openxmlformats.org/officeDocument/2006/relationships/slide" Target="/ppt/slides/slide5.xml" Id="R11b8b8f693ae4e45" /><Relationship Type="http://schemas.openxmlformats.org/officeDocument/2006/relationships/slide" Target="/ppt/slides/slide6.xml" Id="R1ce013a9975c485c" /><Relationship Type="http://schemas.openxmlformats.org/officeDocument/2006/relationships/slide" Target="/ppt/slides/slide7.xml" Id="Rb1725fd6888342d9" /><Relationship Type="http://schemas.openxmlformats.org/officeDocument/2006/relationships/slide" Target="/ppt/slides/slide8.xml" Id="R56b6b482a74b4229" /><Relationship Type="http://schemas.openxmlformats.org/officeDocument/2006/relationships/slide" Target="/ppt/slides/slide9.xml" Id="Rec3cb594d2334a12" /><Relationship Type="http://schemas.openxmlformats.org/officeDocument/2006/relationships/slide" Target="/ppt/slides/slide10.xml" Id="R68530a34a833496c" /><Relationship Type="http://schemas.openxmlformats.org/officeDocument/2006/relationships/slide" Target="/ppt/slides/slide11.xml" Id="R4749cdc62f9344aa" /><Relationship Type="http://schemas.openxmlformats.org/officeDocument/2006/relationships/slide" Target="/ppt/slides/slide12.xml" Id="R65bb45f942494f2e" /><Relationship Type="http://schemas.openxmlformats.org/officeDocument/2006/relationships/slide" Target="/ppt/slides/slide13.xml" Id="R0cbcfa7d31724225" /><Relationship Type="http://schemas.openxmlformats.org/officeDocument/2006/relationships/slide" Target="/ppt/slides/slide14.xml" Id="R8b80eba06bb14480" /><Relationship Type="http://schemas.openxmlformats.org/officeDocument/2006/relationships/slide" Target="/ppt/slides/slide15.xml" Id="Rdc5ed7ae27074259" /><Relationship Type="http://schemas.openxmlformats.org/officeDocument/2006/relationships/slide" Target="/ppt/slides/slide16.xml" Id="R1a8f80e9f8274af5" /><Relationship Type="http://schemas.openxmlformats.org/officeDocument/2006/relationships/slide" Target="/ppt/slides/slide17.xml" Id="Ra55bd558cca24a78" /><Relationship Type="http://schemas.openxmlformats.org/officeDocument/2006/relationships/slide" Target="/ppt/slides/slide18.xml" Id="R311af9df49124c85" /><Relationship Type="http://schemas.openxmlformats.org/officeDocument/2006/relationships/slide" Target="/ppt/slides/slide19.xml" Id="Rf287829310654116" /><Relationship Type="http://schemas.openxmlformats.org/officeDocument/2006/relationships/slide" Target="/ppt/slides/slide20.xml" Id="R5a0c156976674660" /><Relationship Type="http://schemas.openxmlformats.org/officeDocument/2006/relationships/slide" Target="/ppt/slides/slide21.xml" Id="Rc4c67edfd2a14a5b" /><Relationship Type="http://schemas.openxmlformats.org/officeDocument/2006/relationships/slide" Target="/ppt/slides/slide22.xml" Id="R66685c00992d4ee9" /><Relationship Type="http://schemas.openxmlformats.org/officeDocument/2006/relationships/slide" Target="/ppt/slides/slide23.xml" Id="Rab67f101f0ee44a1" /><Relationship Type="http://schemas.openxmlformats.org/officeDocument/2006/relationships/slide" Target="/ppt/slides/slide24.xml" Id="Rff85d3f63fa34ce3" /><Relationship Type="http://schemas.openxmlformats.org/officeDocument/2006/relationships/slide" Target="/ppt/slides/slide25.xml" Id="Rabaaa50057bc410c" /><Relationship Type="http://schemas.openxmlformats.org/officeDocument/2006/relationships/slide" Target="/ppt/slides/slide26.xml" Id="R04ef058de57d4b6c" /><Relationship Type="http://schemas.openxmlformats.org/officeDocument/2006/relationships/slide" Target="/ppt/slides/slide27.xml" Id="R4190494ec6474e65" /><Relationship Type="http://schemas.openxmlformats.org/officeDocument/2006/relationships/slide" Target="/ppt/slides/slide28.xml" Id="R728078ea1b824b27" /><Relationship Type="http://schemas.openxmlformats.org/officeDocument/2006/relationships/slide" Target="/ppt/slides/slide29.xml" Id="R60e8fad93766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6c004442b543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092ba0cef34f9e" /><Relationship Type="http://schemas.openxmlformats.org/officeDocument/2006/relationships/notesMaster" Target="/ppt/notesMasters/notesMaster1.xml" Id="Rfa7535a17eef45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e0c15129d40c2" /><Relationship Type="http://schemas.openxmlformats.org/officeDocument/2006/relationships/notesMaster" Target="/ppt/notesMasters/notesMaster1.xml" Id="R28082f56fbba4c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b18c1fe8594d65" /><Relationship Type="http://schemas.openxmlformats.org/officeDocument/2006/relationships/notesMaster" Target="/ppt/notesMasters/notesMaster1.xml" Id="Re742c34e8f3b4c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8327853e5344c7" /><Relationship Type="http://schemas.openxmlformats.org/officeDocument/2006/relationships/notesMaster" Target="/ppt/notesMasters/notesMaster1.xml" Id="Re93e09c70367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e02149e753449b" /><Relationship Type="http://schemas.openxmlformats.org/officeDocument/2006/relationships/notesMaster" Target="/ppt/notesMasters/notesMaster1.xml" Id="Rc107daba53354f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d1b5f809394b33" /><Relationship Type="http://schemas.openxmlformats.org/officeDocument/2006/relationships/notesMaster" Target="/ppt/notesMasters/notesMaster1.xml" Id="R5e5cea5c5a5f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59a3badde54d0a" /><Relationship Type="http://schemas.openxmlformats.org/officeDocument/2006/relationships/notesMaster" Target="/ppt/notesMasters/notesMaster1.xml" Id="R3a70f2e17d324e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dda80e5104484b" /><Relationship Type="http://schemas.openxmlformats.org/officeDocument/2006/relationships/notesMaster" Target="/ppt/notesMasters/notesMaster1.xml" Id="R4dd89bddd0904b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6782eaae84ebd" /><Relationship Type="http://schemas.openxmlformats.org/officeDocument/2006/relationships/notesMaster" Target="/ppt/notesMasters/notesMaster1.xml" Id="Rc8d1761d5c2e4e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577aaed3e6486d" /><Relationship Type="http://schemas.openxmlformats.org/officeDocument/2006/relationships/notesMaster" Target="/ppt/notesMasters/notesMaster1.xml" Id="Rd3eb47634aab4a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eed897afd4bc7" /><Relationship Type="http://schemas.openxmlformats.org/officeDocument/2006/relationships/notesMaster" Target="/ppt/notesMasters/notesMaster1.xml" Id="R1d6b4e70f4ae41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db0b32a7844d14" /><Relationship Type="http://schemas.openxmlformats.org/officeDocument/2006/relationships/notesMaster" Target="/ppt/notesMasters/notesMaster1.xml" Id="R765b368265b14b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d1bc44c3a147c9" /><Relationship Type="http://schemas.openxmlformats.org/officeDocument/2006/relationships/notesMaster" Target="/ppt/notesMasters/notesMaster1.xml" Id="R40f6bdd20e0943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4de28df3ea48ee" /><Relationship Type="http://schemas.openxmlformats.org/officeDocument/2006/relationships/notesMaster" Target="/ppt/notesMasters/notesMaster1.xml" Id="R385f7a50d24940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59ba447e9a4c9d" /><Relationship Type="http://schemas.openxmlformats.org/officeDocument/2006/relationships/notesMaster" Target="/ppt/notesMasters/notesMaster1.xml" Id="Ra72d360cea6948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0799856851e49cd" /><Relationship Type="http://schemas.openxmlformats.org/officeDocument/2006/relationships/notesMaster" Target="/ppt/notesMasters/notesMaster1.xml" Id="Rf05da81e73f94b9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59c77701f34f1c" /><Relationship Type="http://schemas.openxmlformats.org/officeDocument/2006/relationships/notesMaster" Target="/ppt/notesMasters/notesMaster1.xml" Id="R0ef8e2cc9d5c41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6e419dbe7747ef" /><Relationship Type="http://schemas.openxmlformats.org/officeDocument/2006/relationships/notesMaster" Target="/ppt/notesMasters/notesMaster1.xml" Id="R59ef612fd0ca43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4f6c8edc4e4aae" /><Relationship Type="http://schemas.openxmlformats.org/officeDocument/2006/relationships/notesMaster" Target="/ppt/notesMasters/notesMaster1.xml" Id="R6c489862e1734c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2ec14b7d304097" /><Relationship Type="http://schemas.openxmlformats.org/officeDocument/2006/relationships/notesMaster" Target="/ppt/notesMasters/notesMaster1.xml" Id="R6b17c993883b43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08fff367584524" /><Relationship Type="http://schemas.openxmlformats.org/officeDocument/2006/relationships/notesMaster" Target="/ppt/notesMasters/notesMaster1.xml" Id="Ra38a4cbb18694d6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ebff3a175243d8" /><Relationship Type="http://schemas.openxmlformats.org/officeDocument/2006/relationships/notesMaster" Target="/ppt/notesMasters/notesMaster1.xml" Id="Rb1f4a97a4a844d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e564a19f7f4f6f" /><Relationship Type="http://schemas.openxmlformats.org/officeDocument/2006/relationships/notesMaster" Target="/ppt/notesMasters/notesMaster1.xml" Id="R99c935f6ae874f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28ed551ce5490e" /><Relationship Type="http://schemas.openxmlformats.org/officeDocument/2006/relationships/notesMaster" Target="/ppt/notesMasters/notesMaster1.xml" Id="R34b09fde0c3e43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222d32cfbf435a" /><Relationship Type="http://schemas.openxmlformats.org/officeDocument/2006/relationships/notesMaster" Target="/ppt/notesMasters/notesMaster1.xml" Id="R4a228a884aa1499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5194336a7ab4f89" /><Relationship Type="http://schemas.openxmlformats.org/officeDocument/2006/relationships/notesMaster" Target="/ppt/notesMasters/notesMaster1.xml" Id="Rfd256c3c263140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087f7ca98d476e" /><Relationship Type="http://schemas.openxmlformats.org/officeDocument/2006/relationships/notesMaster" Target="/ppt/notesMasters/notesMaster1.xml" Id="Reeb67ef881d746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4be69f241c048c4" /><Relationship Type="http://schemas.openxmlformats.org/officeDocument/2006/relationships/notesMaster" Target="/ppt/notesMasters/notesMaster1.xml" Id="Rdad510476cd040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d2db9bd41146cd" /><Relationship Type="http://schemas.openxmlformats.org/officeDocument/2006/relationships/notesMaster" Target="/ppt/notesMasters/notesMaster1.xml" Id="R78216072d90f42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2de1f97004a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7c119b14b2492a" /><Relationship Type="http://schemas.openxmlformats.org/officeDocument/2006/relationships/slideLayout" Target="/ppt/slideLayouts/slideLayout1.xml" Id="R568d24da6b15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d24da6b15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ad9e5f78846c3" /><Relationship Type="http://schemas.openxmlformats.org/officeDocument/2006/relationships/notesSlide" Target="/ppt/notesSlides/notesSlide1.xml" Id="R4642ac330ad645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9834c4a2e424f" /><Relationship Type="http://schemas.openxmlformats.org/officeDocument/2006/relationships/notesSlide" Target="/ppt/notesSlides/notesSlide2.xml" Id="Rb4ac1672867e47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abbab0304bca" /><Relationship Type="http://schemas.openxmlformats.org/officeDocument/2006/relationships/notesSlide" Target="/ppt/notesSlides/notesSlide3.xml" Id="Rf380a5ba52b34f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3635d9c0d473d" /><Relationship Type="http://schemas.openxmlformats.org/officeDocument/2006/relationships/notesSlide" Target="/ppt/notesSlides/notesSlide4.xml" Id="R68068d36a95641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a52a93de64c40" /><Relationship Type="http://schemas.openxmlformats.org/officeDocument/2006/relationships/notesSlide" Target="/ppt/notesSlides/notesSlide5.xml" Id="Rc3bf2d9cb953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0007ae9704056" /><Relationship Type="http://schemas.openxmlformats.org/officeDocument/2006/relationships/notesSlide" Target="/ppt/notesSlides/notesSlide6.xml" Id="R6c313664d148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70c75d2a2495d" /><Relationship Type="http://schemas.openxmlformats.org/officeDocument/2006/relationships/notesSlide" Target="/ppt/notesSlides/notesSlide7.xml" Id="R9888d0a3ca2347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78e2544614d89" /><Relationship Type="http://schemas.openxmlformats.org/officeDocument/2006/relationships/notesSlide" Target="/ppt/notesSlides/notesSlide8.xml" Id="R7924fe73cfa74a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5e509056b4154" /><Relationship Type="http://schemas.openxmlformats.org/officeDocument/2006/relationships/notesSlide" Target="/ppt/notesSlides/notesSlide9.xml" Id="R2b682559fe7e45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2abef788425d" /><Relationship Type="http://schemas.openxmlformats.org/officeDocument/2006/relationships/notesSlide" Target="/ppt/notesSlides/notesSlide10.xml" Id="R3320b8a72e9642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71c14cca844f8" /><Relationship Type="http://schemas.openxmlformats.org/officeDocument/2006/relationships/notesSlide" Target="/ppt/notesSlides/notesSlide11.xml" Id="Rcfb32121c0fb45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30b8a6fca4c1d" /><Relationship Type="http://schemas.openxmlformats.org/officeDocument/2006/relationships/notesSlide" Target="/ppt/notesSlides/notesSlide12.xml" Id="R5716b20ced3743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3b727d1224286" /><Relationship Type="http://schemas.openxmlformats.org/officeDocument/2006/relationships/notesSlide" Target="/ppt/notesSlides/notesSlide13.xml" Id="R59c8fe290e9c47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35ce73574bfd" /><Relationship Type="http://schemas.openxmlformats.org/officeDocument/2006/relationships/notesSlide" Target="/ppt/notesSlides/notesSlide14.xml" Id="R35e65db2c6f743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1208996cc48a9" /><Relationship Type="http://schemas.openxmlformats.org/officeDocument/2006/relationships/notesSlide" Target="/ppt/notesSlides/notesSlide15.xml" Id="Rb1cff66f318a4b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51539ad304282" /><Relationship Type="http://schemas.openxmlformats.org/officeDocument/2006/relationships/notesSlide" Target="/ppt/notesSlides/notesSlide16.xml" Id="R0e0dbbb10f5e4b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34d3a697841c2" /><Relationship Type="http://schemas.openxmlformats.org/officeDocument/2006/relationships/notesSlide" Target="/ppt/notesSlides/notesSlide17.xml" Id="R6127a6f9767b46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5bf758af448ba" /><Relationship Type="http://schemas.openxmlformats.org/officeDocument/2006/relationships/notesSlide" Target="/ppt/notesSlides/notesSlide18.xml" Id="R0a26d5828f6447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33215ce404ebb" /><Relationship Type="http://schemas.openxmlformats.org/officeDocument/2006/relationships/notesSlide" Target="/ppt/notesSlides/notesSlide19.xml" Id="R62201bf22a65496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201331bfb4547" /><Relationship Type="http://schemas.openxmlformats.org/officeDocument/2006/relationships/notesSlide" Target="/ppt/notesSlides/notesSlide20.xml" Id="R0056d085784245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cf1d4404745ff" /><Relationship Type="http://schemas.openxmlformats.org/officeDocument/2006/relationships/notesSlide" Target="/ppt/notesSlides/notesSlide21.xml" Id="Rb34da7a69d0740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966de79644337" /><Relationship Type="http://schemas.openxmlformats.org/officeDocument/2006/relationships/image" Target="/ppt/media/image.png" Id="Re3d3d68d56a64daf" /><Relationship Type="http://schemas.openxmlformats.org/officeDocument/2006/relationships/notesSlide" Target="/ppt/notesSlides/notesSlide22.xml" Id="Rdccbd53bdc564c2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fba893134ba7" /><Relationship Type="http://schemas.openxmlformats.org/officeDocument/2006/relationships/notesSlide" Target="/ppt/notesSlides/notesSlide23.xml" Id="Rceca9336d2bc422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8c4bb10514c3b" /><Relationship Type="http://schemas.openxmlformats.org/officeDocument/2006/relationships/notesSlide" Target="/ppt/notesSlides/notesSlide24.xml" Id="Rc0de2b4ab958403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c9dd5eb4743d0" /><Relationship Type="http://schemas.openxmlformats.org/officeDocument/2006/relationships/notesSlide" Target="/ppt/notesSlides/notesSlide25.xml" Id="R1a4afa21281644b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f5a736f24493e" /><Relationship Type="http://schemas.openxmlformats.org/officeDocument/2006/relationships/notesSlide" Target="/ppt/notesSlides/notesSlide26.xml" Id="R38c823a22e3a4d1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35cdde6b143a9" /><Relationship Type="http://schemas.openxmlformats.org/officeDocument/2006/relationships/notesSlide" Target="/ppt/notesSlides/notesSlide27.xml" Id="R1a8c234cc0fc42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aaa6b9264a71" /><Relationship Type="http://schemas.openxmlformats.org/officeDocument/2006/relationships/notesSlide" Target="/ppt/notesSlides/notesSlide28.xml" Id="Re7ceb1a105a9475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84982d265483c" /><Relationship Type="http://schemas.openxmlformats.org/officeDocument/2006/relationships/image" Target="/ppt/media/image2.png" Id="R863e43d8bc4a40fb" /><Relationship Type="http://schemas.openxmlformats.org/officeDocument/2006/relationships/notesSlide" Target="/ppt/notesSlides/notesSlide29.xml" Id="R3f4d07805718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1D5AEC-5D46-489D-9E2D-86954F2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523875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14000"/>
                </a:srgbClr>
              </a:gs>
              <a:gs pos="72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CBD97-20DE-4E98-B2EA-3B97E6A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0" b="1" i="0">
                <a:solidFill>
                  <a:srgbClr val="FFFFFF"/>
                </a:solidFill>
              </a:defRPr>
            </a:pPr>
            <a:r>
              <a:rPr sz="9000" b="1" i="0">
                <a:solidFill>
                  <a:srgbClr val="FFFFFF"/>
                </a:solidFill>
              </a:rPr>
              <a:t>UNIKE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6E2F7-4709-438D-BE65-1FAA40E5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65760684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4000">
              <a:srgbClr val="100B08"/>
            </a:gs>
            <a:gs pos="100000">
              <a:srgbClr val="1B1306"/>
            </a:gs>
          </a:gsLst>
          <a:lin ang="8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9CA667-F6B7-407C-A792-9CB4E26A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19250" y="762000"/>
            <a:ext cx="5905500" cy="495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8C46D">
                  <a:alpha val="18000"/>
                </a:srgbClr>
              </a:gs>
              <a:gs pos="72000">
                <a:srgbClr val="E8C46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75BDA-D9EB-41B2-BD9C-1703B81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>
                    <a:alpha val="50196"/>
                  </a:srgbClr>
                </a:solidFill>
              </a:defRPr>
            </a:pPr>
            <a:r>
              <a:rPr sz="1125" b="1" i="0">
                <a:solidFill>
                  <a:srgbClr val="FFFFFF">
                    <a:alpha val="50196"/>
                  </a:srgbClr>
                </a:solidFill>
              </a:rPr>
              <a:t>ENTRADA RAPHAEL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1B6D1-0772-4F73-972C-1C5A08B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0" b="1" i="0">
                <a:solidFill>
                  <a:srgbClr val="75E6FF"/>
                </a:solidFill>
              </a:defRPr>
            </a:pPr>
            <a:r>
              <a:rPr sz="7350" b="1" i="0">
                <a:solidFill>
                  <a:srgbClr val="75E6FF"/>
                </a:solidFill>
              </a:rPr>
              <a:t>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A4DE5-14DB-4BFB-983E-9D15CE1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431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A7A7A7"/>
                </a:solidFill>
              </a:defRPr>
            </a:pPr>
            <a:r>
              <a:rPr sz="4350" b="0" i="0">
                <a:solidFill>
                  <a:srgbClr val="A7A7A7"/>
                </a:solidFill>
              </a:rPr>
              <a:t>não mudam empresas.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FB297-3BD6-44E8-9490-989BF2BF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533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0" b="1" i="0">
                <a:solidFill>
                  <a:srgbClr val="E8C46D"/>
                </a:solidFill>
              </a:defRPr>
            </a:pPr>
            <a:r>
              <a:rPr sz="7350" b="1" i="0">
                <a:solidFill>
                  <a:srgbClr val="E8C46D"/>
                </a:solidFill>
              </a:rPr>
              <a:t>Decisões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D9782-6832-4605-A531-0CB6CDCD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862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0" i="0">
                <a:solidFill>
                  <a:srgbClr val="FFFFFF"/>
                </a:solidFill>
              </a:defRPr>
            </a:pPr>
            <a:r>
              <a:rPr sz="5550" b="0" i="0">
                <a:solidFill>
                  <a:srgbClr val="FFFFFF"/>
                </a:solidFill>
              </a:rPr>
              <a:t>mudam.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CD64-9685-454C-8E64-938822F1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0497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AAE095-E082-406C-9C41-88952A86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550" b="1" i="0">
                <a:solidFill>
                  <a:srgbClr val="FFFFFF"/>
                </a:solidFill>
              </a:defRPr>
            </a:pPr>
            <a:r>
              <a:rPr sz="14550" b="1" i="0">
                <a:solidFill>
                  <a:srgbClr val="FFFFFF"/>
                </a:solidFill>
              </a:rPr>
              <a:t>74%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B2274-A7DF-4870-9495-AEC4646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48125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A7A7A7"/>
                </a:solidFill>
              </a:defRPr>
            </a:pPr>
            <a:r>
              <a:rPr sz="2550" b="0" i="0">
                <a:solidFill>
                  <a:srgbClr val="A7A7A7"/>
                </a:solidFill>
              </a:rPr>
              <a:t>Sem contexto, isso não significa nada.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532BA-3B63-4AC4-92AF-F44CF9D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5670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5C574-A205-49DE-BC1A-DA697C9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550" b="1" i="0">
                <a:solidFill>
                  <a:srgbClr val="FFFFFF"/>
                </a:solidFill>
              </a:defRPr>
            </a:pPr>
            <a:r>
              <a:rPr sz="14550" b="1" i="0">
                <a:solidFill>
                  <a:srgbClr val="FFFFFF"/>
                </a:solidFill>
              </a:rPr>
              <a:t>74%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943DF-9A0E-4E77-9BDB-48CC6B80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48125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das mensagens enviadas para recrutamento não receberam resposta.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CCE9F-D2DB-4C7C-A92F-F945C62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3948612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8000">
              <a:srgbClr val="100E05"/>
            </a:gs>
            <a:gs pos="100000">
              <a:srgbClr val="1D1604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892563-4DFA-4ECB-AA98-54959852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09750"/>
            <a:ext cx="4648200" cy="3143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6DF9A">
                  <a:alpha val="21000"/>
                </a:srgbClr>
              </a:gs>
              <a:gs pos="72000">
                <a:srgbClr val="F6DF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384FD-93DF-46B5-BA37-D657D7B6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A pergunta que mudou tudo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5FEA6-1FDD-46CA-9DFF-4A567D39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200" b="1" i="0">
                <a:solidFill>
                  <a:srgbClr val="F6DF9A"/>
                </a:solidFill>
              </a:defRPr>
            </a:pPr>
            <a:r>
              <a:rPr sz="10200" b="1" i="0">
                <a:solidFill>
                  <a:srgbClr val="F6DF9A"/>
                </a:solidFill>
              </a:rPr>
              <a:t>Por quê?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174CD-5195-4FB7-809F-6FC41E98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1065925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8000">
              <a:srgbClr val="071015"/>
            </a:gs>
            <a:gs pos="100000">
              <a:srgbClr val="0A1720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2648D-1CB6-4AC5-B4EC-F21A2ED1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4000500" cy="4095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13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FF8CB-11C3-4CDA-9493-21B648D4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</a:defRPr>
            </a:pPr>
            <a:r>
              <a:rPr sz="5100" b="1" i="0">
                <a:solidFill>
                  <a:srgbClr val="FFFFFF"/>
                </a:solidFill>
              </a:rPr>
              <a:t>O que fizemos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8EAF4-549D-4EBE-B13F-00938A01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33625"/>
            <a:ext cx="6762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C6C5B-95A5-4AC5-835F-5E0CAA9D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Analisamos os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F71F-5416-4789-94F8-2513A23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14675"/>
            <a:ext cx="6762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3830B-D1F9-4C0E-A6BD-63AB631E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A7A7A7"/>
                </a:solidFill>
              </a:defRPr>
            </a:pPr>
            <a:r>
              <a:rPr sz="2250" b="0" i="0">
                <a:solidFill>
                  <a:srgbClr val="A7A7A7"/>
                </a:solidFill>
              </a:rPr>
              <a:t>Mensagem, Algoritmo e Perfis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7664-9D63-41B9-A407-B870F96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95725"/>
            <a:ext cx="6762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C785A-BF08-4980-9EB5-3662A84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909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A7A7A7"/>
                </a:solidFill>
              </a:defRPr>
            </a:pPr>
            <a:r>
              <a:rPr sz="2250" b="0" i="0">
                <a:solidFill>
                  <a:srgbClr val="A7A7A7"/>
                </a:solidFill>
              </a:rPr>
              <a:t>Padrões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31F7C-0DF7-4F45-96ED-E6D42DD1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76775"/>
            <a:ext cx="6762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8272D-98E2-423E-BC84-5754C338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720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A7A7A7"/>
                </a:solidFill>
              </a:defRPr>
            </a:pPr>
            <a:r>
              <a:rPr sz="2250" b="0" i="0">
                <a:solidFill>
                  <a:srgbClr val="A7A7A7"/>
                </a:solidFill>
              </a:rPr>
              <a:t>Treinamentos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0CC5B-D532-4EB9-A41F-2012D1C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7149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D1D48-3907-4B4C-BA68-B6731E8B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43000"/>
            <a:ext cx="49530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6DF9A">
                  <a:alpha val="20000"/>
                </a:srgbClr>
              </a:gs>
              <a:gs pos="72000">
                <a:srgbClr val="F6DF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AF5E7-0CC0-4962-8564-A856D9E5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478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350" b="1" i="0">
                <a:solidFill>
                  <a:srgbClr val="050505"/>
                </a:solidFill>
              </a:defRPr>
            </a:pPr>
            <a:r>
              <a:rPr sz="10350" b="1" i="0">
                <a:solidFill>
                  <a:srgbClr val="050505"/>
                </a:solidFill>
              </a:rPr>
              <a:t>74% → 55%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4F3EF-0005-4794-A3AB-608EF4F1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303030"/>
                </a:solidFill>
              </a:defRPr>
            </a:pPr>
            <a:r>
              <a:rPr sz="2325" b="0" i="0">
                <a:solidFill>
                  <a:srgbClr val="303030"/>
                </a:solidFill>
              </a:rPr>
              <a:t>Os dados não fizeram o trabalho.</a:t>
            </a:r>
          </a:p>
          <a:p xmlns:a="http://schemas.openxmlformats.org/drawingml/2006/main">
            <a:pPr algn="ctr">
              <a:defRPr sz="2325" b="0" i="0">
                <a:solidFill>
                  <a:srgbClr val="303030"/>
                </a:solidFill>
              </a:defRPr>
            </a:pPr>
            <a:r>
              <a:rPr sz="2325" b="0" i="0">
                <a:solidFill>
                  <a:srgbClr val="303030"/>
                </a:solidFill>
              </a:rPr>
              <a:t>Pessoas fizeram.</a:t>
            </a:r>
          </a:p>
          <a:p xmlns:a="http://schemas.openxmlformats.org/drawingml/2006/main">
            <a:pPr algn="ctr">
              <a:defRPr sz="2325" b="0" i="0">
                <a:solidFill>
                  <a:srgbClr val="303030"/>
                </a:solidFill>
              </a:defRPr>
            </a:pPr>
            <a:r>
              <a:rPr sz="2325" b="0" i="0">
                <a:solidFill>
                  <a:srgbClr val="303030"/>
                </a:solidFill>
              </a:rPr>
              <a:t>Mas os dados mostraram o caminho.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B8B87-8BDA-4C46-90FF-2F464C60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6045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5C7918-E6AC-4215-9073-F7E70745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09625"/>
            <a:ext cx="3810000" cy="4286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58CFF">
                  <a:alpha val="13000"/>
                </a:srgbClr>
              </a:gs>
              <a:gs pos="72000">
                <a:srgbClr val="B58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C24D-619F-4062-A833-5FD6B1C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050505"/>
                </a:solidFill>
              </a:defRPr>
            </a:pPr>
            <a:r>
              <a:rPr sz="5400" b="1" i="0">
                <a:solidFill>
                  <a:srgbClr val="050505"/>
                </a:solidFill>
              </a:rPr>
              <a:t>Esse era apenas um processo.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303F4-7D3E-433F-B798-A340138E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303030"/>
                </a:solidFill>
              </a:defRPr>
            </a:pPr>
            <a:r>
              <a:rPr sz="2850" b="0" i="0">
                <a:solidFill>
                  <a:srgbClr val="303030"/>
                </a:solidFill>
              </a:rPr>
              <a:t>E quando olhamos para toda a operação?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86137-F6F5-4779-9445-FBBA4BD0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427801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75107-3B8E-431E-A23E-56142A64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762000"/>
            <a:ext cx="7239000" cy="4476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9000"/>
                </a:srgbClr>
              </a:gs>
              <a:gs pos="72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0F9D8-C6FC-4A69-AAD1-3BE7B38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7150"/>
            <a:ext cx="5308092" cy="917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6450" b="1" i="0">
                <a:solidFill>
                  <a:srgbClr val="FFFFFF">
                    <a:alpha val="92000"/>
                  </a:srgbClr>
                </a:solidFill>
              </a:rPr>
              <a:t>Diamantes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CC0A1-6AC1-42E5-BE45-53138FEA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933450"/>
            <a:ext cx="3326130" cy="1034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75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7275" b="1" i="0">
                <a:solidFill>
                  <a:srgbClr val="FFFFFF">
                    <a:alpha val="92000"/>
                  </a:srgbClr>
                </a:solidFill>
              </a:rPr>
              <a:t>Horas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29882-5B11-455C-899F-3B566A6A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66900"/>
            <a:ext cx="6665976" cy="1152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00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8100" b="1" i="0">
                <a:solidFill>
                  <a:srgbClr val="FFFFFF">
                    <a:alpha val="92000"/>
                  </a:srgbClr>
                </a:solidFill>
              </a:rPr>
              <a:t>Campanhas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A4607-484F-496F-AAE6-FB6C1456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8161020" cy="1269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925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8925" b="1" i="0">
                <a:solidFill>
                  <a:srgbClr val="FFFFFF">
                    <a:alpha val="92000"/>
                  </a:srgbClr>
                </a:solidFill>
              </a:rPr>
              <a:t>Incentivos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AC118-093A-47DF-9E2B-643E668F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4457700" cy="138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0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9750" b="1" i="0">
                <a:solidFill>
                  <a:srgbClr val="FFFFFF">
                    <a:alpha val="92000"/>
                  </a:srgbClr>
                </a:solidFill>
              </a:rPr>
              <a:t>Humor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EF12E-1B4B-4979-B698-23B0E006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67250"/>
            <a:ext cx="6768846" cy="1504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75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10575" b="1" i="0">
                <a:solidFill>
                  <a:srgbClr val="FFFFFF">
                    <a:alpha val="92000"/>
                  </a:srgbClr>
                </a:solidFill>
              </a:rPr>
              <a:t>Eventos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B063E-3BA1-46DA-9FE4-FBDDFD1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00700"/>
            <a:ext cx="493776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0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6750" b="1" i="0">
                <a:solidFill>
                  <a:srgbClr val="FFFFFF">
                    <a:alpha val="92000"/>
                  </a:srgbClr>
                </a:solidFill>
              </a:rPr>
              <a:t>Guifters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549BD-B92F-48E5-8859-8FC1BDF7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150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Horas de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F3DEF-4BF0-496A-8B36-64215C4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71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Retenção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E8C97-DFB9-4084-82FC-D613336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05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Liga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909A9-0036-44FA-B12C-D7A6CE0C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Power 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2C283-F098-49D5-8AC9-D48F470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719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Co-host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25F76-E182-41E1-B9D9-91F97D3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Metas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62957-18B9-45AE-910B-6BBE3015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388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AFAF6-FFC9-45A6-82A6-C86DF08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762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Creators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151C0-DCB3-478B-BEC7-A817086C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009650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Recrutamento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A1D0D-22B2-4D6D-B4AF-63E1FCF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Atendimento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EE8BF-5C55-4869-B8BA-097FEB5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76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TikTok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84CCD-A0CB-4BB5-AA48-0FA2086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Pagamentos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026B7-BA17-4508-A0B1-805E1FEA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434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Frequência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54BA7-E760-4A32-9E46-740C7FBC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676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Repescagem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6F221-3D95-4A02-8DA5-108BE8D0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14300"/>
            <a:ext cx="2880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Fila de espera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AA8E93-1939-469A-B48A-82A1B514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047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Aprovados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5D6AF-78BE-405B-B672-224E6B51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71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Recrutados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BFBEF2-42BA-4CC2-86A5-9542FE19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04925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Taxa de conversão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34E4D-0102-4B0F-A6F7-D0D9FC45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38375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Envio de mensagens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DD6ED-7726-44F8-8B9F-2AA3320B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718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Respostas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AD7420-F8A4-422B-B58C-89A3596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13D80-5BF2-46E3-BB19-69EE7D59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38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Onboarding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F09C9-785D-4287-B013-4B488F9C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972175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Treinamentos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8694B8-DFD8-484B-B6CF-872A397C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95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Agenda de lives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3209DF-E76F-44F1-971D-1556C4C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343025"/>
            <a:ext cx="43205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Escala de atendimento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7504FE-6F86-4FDA-9CEB-E36A9824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764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SLA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A0823C-D731-4200-A7B5-451505B5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9925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Tempo de resposta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72C63-A03D-403D-8D2D-CE4619F8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43375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Volume de chamados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F1555-B6B9-47A7-8A9E-1C72069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Tickets abertos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F3D252-D345-48DA-B31B-4903CAB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10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Tickets fechados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C9679-2280-4A6D-B305-8CCADE4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767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Conversas ativas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40FA52-F585-4CC8-8FDB-1CD5C397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81125"/>
            <a:ext cx="169392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Mensagens pendentes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3802FB-062C-46AD-B0FE-114CAEB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145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Leads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229D17-3819-4874-A1E4-AADEA759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480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Cadastro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368946-6862-42E8-B666-E658F7B0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8147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Aprovação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5FDE5D-D54E-4AAA-B4C6-0C320C57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114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Reprovação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E3EBF6-CE60-439B-9165-E67831F0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Checklist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D9759-AE1A-4734-9E16-C65B33A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Documentos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7B4D61-C65E-4F03-BA62-84288FFB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1922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Planilha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F0C0DF-F7AD-4F70-BD09-FC0238B6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42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Relatório diário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1C3B69-C1B3-4AA7-B720-4E7BAB9F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76400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Relatório semanal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D92641-1CD7-474B-9344-279EFC85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09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Meta diária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A5C909-F7C4-4E0D-BF6C-BBB97802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43300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Meta semanal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8BC5FC-8458-4E8B-83DC-57F9D167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Meta mensal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9E4B6D-EE4E-47C8-BB36-D1599434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102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Bônus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16A6AE-DD8B-4887-BE29-A4A8FB3F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343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Missões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E2B99B-D5F4-4F9B-8C03-5F62DD2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78105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Tabelas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2B830C-4510-4239-9BFA-A9056B9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714500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Posição no ranking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94585E6-7E88-4251-9F3F-F2383A48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47950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Evolução semanal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7FA7CF-F074-4E77-8CC2-940273EA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81400"/>
            <a:ext cx="17830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Queda de performance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53D068-C588-4A5A-871B-4DACE552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14850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Pico de audiência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9C1821-70BF-4A2B-83C5-ABB0CAF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44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Média de horas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697350-8177-4A71-B55F-F110BC0C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381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Ganhos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D6F92F-829D-44AB-9630-E6B91B6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819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Receita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C796F0-6869-42B9-BA3F-DBDFD7F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24175"/>
            <a:ext cx="5637276" cy="1461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275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10275" b="1" i="0">
                <a:solidFill>
                  <a:srgbClr val="DADADA">
                    <a:alpha val="92000"/>
                  </a:srgbClr>
                </a:solidFill>
              </a:rPr>
              <a:t>Saques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8A69F3-DA15-4ED0-89C7-046CCA3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686050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Pagamento pendente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753F83-0963-4F4E-9A30-F4AF643B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Pagamento aprovado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901220-36EC-4139-BDC7-234F85A3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52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Calendário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F12F18-CF6A-4822-8757-2793E985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864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Plantão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2F0C9B2-C733-4ED4-B02F-B30CEF88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419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Prioridades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417E82-E5EA-4B95-A06F-B1D6224C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8572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Pendências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BB3C41-C540-4106-8228-30A22173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90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Produção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BAC908-0A5A-425D-8E5F-20508C9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1442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Conteúdo postado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225900-35C2-4F51-AA0E-F1BBBC3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47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Lives realizadas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0213AEE-308A-42D0-AB22-27CCB78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8132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Presença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EB7A4B-69FA-4C23-AEE0-F8D89415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14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Ausência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4FCCD6-6B4D-4A72-B765-E24BF85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848225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Atrasos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FDBAD2-609A-4683-8434-8748D625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81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Turnos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364D029-7F2B-4E0D-B817-B136F42E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Escala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121954-CCAE-441E-8C37-D3BCA392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1525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Capacidade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B2557B-51F3-4130-9C52-8DE5655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85975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Carga operacional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790A45-93ED-41D8-91A8-08840B9A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Rotina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DFED7F5-0BA7-421A-8BFA-31E97B29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52875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Fluxo de aprovação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004DFF-428F-4C3A-AA2B-A0F20E70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86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Pipeline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D9ABA7-05B0-42C8-B5C1-B6D03324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819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Funil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856480-FDDA-42C4-ACBE-FD11082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"/>
            <a:ext cx="169392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Conversão por etapa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3F3F5F-1E76-435B-8F08-DAA57B5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9062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Taxa de resposta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86E84D3-8E0C-4CFC-AB71-3C914E7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Convites enviados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5B161B-16D1-4634-AFA0-4EB6B0A3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5752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Convites aceitos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493706-BA8F-4F5D-8A97-7D123844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90975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Convites ignorados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8DF3AA-24E1-4D3C-8209-1DC8779B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492442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Leads frios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B943339-1E84-4065-9088-67E9D97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57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Leads quentes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F992D4-8C77-40DA-8C8E-27C3DC1B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562475"/>
            <a:ext cx="11963400" cy="144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25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10125" b="1" i="0">
                <a:solidFill>
                  <a:srgbClr val="DADADA">
                    <a:alpha val="92000"/>
                  </a:srgbClr>
                </a:solidFill>
              </a:rPr>
              <a:t>Lista de espera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DFD9AE-1C25-45D4-B8AD-CA7BBCE1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28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Base ativa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FF5DD3-5781-4378-A07A-033967C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62175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Base inativa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26FF76-5AFF-489E-974E-4766F591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48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Segmentos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E546CE-D6BC-4801-AD68-EC5586D5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19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Tags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8D8073B-55BB-41A1-B4F1-0B49783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352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Status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2B9E237-3C50-40E8-A044-3D55C149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86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CRM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A5C1E17-C6B2-4E27-8936-E8FF492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219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Dashboard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C78FEA2-EDC9-489A-BD7D-340701B4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6153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Painel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0952C7-8882-4F20-9BFD-D144913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90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Indicadores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CBC741-7926-4E0F-BBF7-8E984D3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24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KPIs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F4B9C93-A30F-4EB0-9D19-2856EBAF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57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Alertas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7FC4EB-8547-4B8C-8004-414719A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90900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Notificações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F63E24-9A97-49AC-8166-2E86EBA6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24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Automação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59066A7-E346-43FD-96C3-060CB374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57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Script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D5EA87-4465-47A1-8022-B074D86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191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Template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9DCD6B5-5D79-4B7C-B9EE-908CEEB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8650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Mensagem inicial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D7A990-AC11-4249-9CB0-6338561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62100"/>
            <a:ext cx="19613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Mensagem personalizada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F4A111A-2D94-48FC-B288-75D7ACC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95550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Teste A/B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1C98AA-93CD-424A-BB07-556123B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Experimento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B73F07E-9602-4CDF-AA30-E393046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Amostra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762A6CA-8B7F-4501-AAA9-F009C2B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Exportação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D2ADD9-2BB5-4713-ABF2-C00C880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2293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Importação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4BFCB2-A281-4496-AFD3-C40E56C6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66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Integração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6CD516B-85F5-4841-B3C9-634B6BD6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002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Webhook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42E74C-09FB-4540-BAEC-BDD2342D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Banco de dados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725F2A-0FAC-4A08-AA8C-51180C8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5737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Base de contatos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3AE9D3-86CD-4298-BA05-6CF3685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90825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Controle de acesso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82FA8D-23DC-409F-807D-2A80555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24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Login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C90884-5283-480B-8813-64DE46F1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57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Usuários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FF2CF01-9F43-4F53-97D6-215DE86E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5911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Permissões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B15FD7-1798-49DA-9A33-F8C95A7F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150"/>
            <a:ext cx="1872234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Histórico operacional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F8DC33C-CE1D-4997-B98B-569FA20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6202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Log de atividade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51B68B6-5016-42F6-8FDE-D58DDC47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1657350"/>
            <a:ext cx="11963400" cy="1344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450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9450" b="1" i="0">
                <a:solidFill>
                  <a:srgbClr val="DADADA">
                    <a:alpha val="92000"/>
                  </a:srgbClr>
                </a:solidFill>
              </a:rPr>
              <a:t>Campos obrigatórios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4FE4FF8-DE88-42DE-837F-AB16F15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2892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Formulários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19228E-AF8F-4825-A5C6-A7BE956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62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Duplicidade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F26370-5684-4C30-B350-B4A7E0E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958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Higiene da base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74B82E3-C4CA-4EFA-A294-FB4BA6A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629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Validação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D4F5D33-4383-43F2-B33C-91D43E2B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66675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Sincronização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0BE904-6F85-45E1-94CE-F275631F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000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Atualização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4446A93-4318-4138-9FA5-62D85DF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933575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Carregamento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EC1CCE5-B035-4373-9823-E1A03AE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8670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Fila de análise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69865F-5218-4542-969C-56D7C14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00475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Tarefa aberta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B13CD25-3001-4407-9096-5BBF2E03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33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Comportamento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A9BE659-CAA7-4535-8402-DE5BC25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66737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Motivação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0AA8851-4CD7-4F6B-B5D4-17B244EA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04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Relacionamento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E0241B7-2B04-492E-8495-A974477C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03822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Confiança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A848443-DAC6-4192-8D35-55757358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71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Energia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B8B5734-8BC3-4A9E-89B3-23B3398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05125"/>
            <a:ext cx="2880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Sinais humanos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B4FDEF1-3BB8-47E2-9E4A-87E77B5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28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Pessoas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836A05C-FBF7-44A9-97D7-52246F37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62300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Colaboradores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236EFCF-CCE0-4558-A841-D6B8793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Creator Managers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BC49BF3-B78E-4C80-85AB-E6A5FFBD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292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Cansaço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8681933-E50C-4A87-8EF3-D899BD3C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96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Sobrecarga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726DAE6-A54A-47C1-B8F3-63F0EC6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Ansiedade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C9BF0D3-9806-4B93-B2CC-D203CDD0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33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Engajamento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D81995E-57C4-43FA-B559-628CEE14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Compromisso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3EF7D24-0056-4ED0-B586-EF0FBAF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Resiliência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A9B6189-11BF-46A3-8DEC-E4F9739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33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Disciplina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737A2FA-AFFB-4A1B-80B6-BF5CA26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67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Comunicação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5E6E699-73A2-448E-A294-BF2C48BF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00075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Clareza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F31DFE9-1278-45EC-A238-BA36B2FA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Feedback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FFBB5E5-88AD-4B77-933A-904DF295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71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Satisfação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3D63F31-9B26-44AC-8767-299D8646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Frustração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6FBDCAE-E823-4BA4-ADCC-614213E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38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Ritmo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6A244D4-4828-4A4C-AF94-445FAD74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71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Intenção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814D402-AA9F-4230-9E9D-56F01571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105400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Resposta emocional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166A860-D6EB-4D0F-B3CD-3E7DB143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038850"/>
            <a:ext cx="213969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Mudança de comportamento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588C7E8-21AC-4B27-8074-50646ED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6250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Desânimo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A0B4808-0065-49A3-8D86-3599C48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409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Entusiasmo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7B90EBE-1307-48FB-947E-B79737AF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43150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Consistência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8C682D9-BCD9-4CA2-AB0B-099CE7C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76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Proatividade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FBAF4BE-7D6D-461F-8921-3E235A9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0032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Autonomia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53C029D-6887-49DD-906E-104E62B5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33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Dependência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12899F8-215A-4BBA-8AD5-7915FF20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67225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Vínculo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152B540-7D72-47D7-9A80-E140FDD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00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Proximidade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C6C44B2-2550-4B57-BE2A-7FF8ACC8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334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Atrito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E7EC04A-1F56-4834-8150-F35F62C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715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Conflito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7952D9D-BE77-4E7D-99EB-22F4A2E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70497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Alinhamento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2FB1B6A-05D2-49D5-BF12-BC00F55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38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Escuta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4FE327C-F9D2-4F78-A257-95FB9C0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71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Apoio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61E6BCE-41AD-4B4C-A796-0708D93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05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Desenvolvimento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D4C778B-FBFE-40AE-B8AC-B944B4D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3877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Mentoria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7A086A5-886E-4098-88E5-AB3FCA5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72225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Treinamento humano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1F8C000-6F52-438F-BCD2-A1C2EC68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0962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Aprendizado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7F4A9D8-9F1D-4943-A3C9-96F70B9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43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Liderança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B7B74C8-2B22-4042-9646-C64111EB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Performance humana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BFF7B36-845B-4F57-B29E-99204D5C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99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Potencial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2309380-92FC-4A84-89F3-AC4B3C68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43425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Risco humano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FC3F92E-DD78-40E6-9D1C-DC9B2273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905250"/>
            <a:ext cx="11963400" cy="13014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0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9150" b="1" i="0">
                <a:solidFill>
                  <a:srgbClr val="DADADA">
                    <a:alpha val="92000"/>
                  </a:srgbClr>
                </a:solidFill>
              </a:rPr>
              <a:t>Retenção humana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6E2A76A-C204-45C7-B3D1-E27AE222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41032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Turnover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DABB278-8E36-4132-B39D-AD8287A6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847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Absenteísmo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9415434-007D-420C-840C-D4494D11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781175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Pontualidade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70AB8C2-711F-41EA-A34B-C6199175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14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Disponibilidade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1AEB5B2-A7A8-46BF-8B70-CAC7BB4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95425"/>
            <a:ext cx="5520690" cy="1226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25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8625" b="1" i="0">
                <a:solidFill>
                  <a:srgbClr val="DADADA">
                    <a:alpha val="92000"/>
                  </a:srgbClr>
                </a:solidFill>
              </a:rPr>
              <a:t>Empatia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B072AFB-1FD8-433C-8C3C-DA5CA06F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71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Criatividade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C9EAF9A-DA3B-4F18-B674-48DD1275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28803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Adaptabilidade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8915F91-1C22-4261-9B3F-D0C24E4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38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Foco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6EF07EF-0167-48F0-9E07-C9FFB92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7215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Atenção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8D5625B-A52D-4E49-9C38-FCF8D7B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9550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Prioridade pessoal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2E224EB-6EFA-4FC3-BA5E-27250867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430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Pressão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6A28F6F-8F59-404A-A7C9-6B96BCF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Pausa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B951E8A-091B-43FA-A635-84363E21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09900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Recuperação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ABD6AA2-122C-4DE1-9649-1BD2727E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43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Burnout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CCBAE9D-CC89-4035-B333-272C1DC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768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Cuidado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84E3A26-BBC9-41BE-96B8-C9F9C5B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810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Reconhecimento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21A566C-0B8A-4915-8603-752D165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"/>
            <a:ext cx="39090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Incentivo emocional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58E8DD86-82B1-4912-9960-A197D989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181100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Confiança no time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3B81A25-0E51-4859-B383-EFB0B5E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114550"/>
            <a:ext cx="39090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Relação com manager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B2310BD-0439-4D56-A5E3-E2B2A236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1693926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Relação com agência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25685BB-2DA5-4B70-B080-EA37E2E9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9814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Maturidade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9E8CB30-589D-42B9-A4D9-4FD68A2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9149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Expectativa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F191990-3AC9-4EF7-9B72-DE3DFD9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848350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Necessidade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A1CC11A-7870-454D-A4F7-C913A1F6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5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Dúvida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F38DDF4-0D77-40EF-85F3-B5F9138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192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Objeção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4B72E67-6BFC-4EF2-8FAE-79AC48E4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Medo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DEFE4F5-3228-4A85-86DB-442C716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861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Coragem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EE01A7-1248-49DC-BF3D-F97303B3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19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Persistência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A2D4F99-629A-4984-BC64-651BBAB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43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Hábito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788C01D2-0504-430E-B9FF-EB09C72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76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Rotina pessoal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0D2E8FF-74ED-43E5-AAF6-9F44D41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10175"/>
            <a:ext cx="43205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Qualidade da conversa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A758542-3A46-44A6-9123-8A59756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14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Tom de voz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C53E6CB2-0B72-4C9E-9924-31B7DA08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Tempo de atenção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7E7DBA8-33AF-42B9-84B8-F2D2348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144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Sensação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5DF5BDA-B201-40C8-82F2-2ED84469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47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Clima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C123D8A-7C7D-40C2-B25E-DC848B2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Cultura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0A55960-E2EA-42C3-B163-7F429002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14825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Pertencimento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33D5AA3-0B70-43DC-8F85-2A73772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4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Comunidade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3A1E0DA6-EBD4-409C-AB6D-1646D86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8172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Reputação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5248F3A-F0B8-47F9-A2F2-2CBA243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19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Credibilidade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C953E31-AC2A-42C7-8F0D-750414CA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52575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Senso de urgência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078D5D5-E128-4DB3-8419-E4F378B2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860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Nível de suporte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688D1F5-C0DD-4E26-92CA-C6CD6800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194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Pedido de ajuda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DDF988D-EFCE-4DC7-B0EC-713BECB3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352925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Risco de abandono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AA1B1C5-4EFD-40C3-A25F-06BE261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286375"/>
            <a:ext cx="39090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Sinal de isolamento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568F957-5AC5-4D9E-A7E4-51EB928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2198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Oscilação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BF8EB1AE-151D-444E-8E30-F21DA27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57225"/>
            <a:ext cx="39090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Crescimento pessoal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DE3123E-64F4-4A57-8A16-6B966643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590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Bloqueio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DF4C16F-D32E-4A96-8D97-8DAB207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2412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Resistência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506C9AA-B5CC-483A-AC32-0022D805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57575"/>
            <a:ext cx="17830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Alinhamento de metas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68B0021-6BF3-4E57-8E06-78F492F4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910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Relato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A573E03-7F27-4E6C-A940-0EC7740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14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Contexto humano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BAA7217-A498-4585-B5C1-945CD21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48200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História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4343BA7-C65F-4895-9875-8071877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58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Momento de vida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BEE1DCE-CBAB-4DF8-9E23-56B35573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71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Disponibilidade emocional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2C9FE88-8B49-42C5-89CE-D0A44FCD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952500"/>
            <a:ext cx="19613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Expectativa financeira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EA274CCE-26A6-4AF4-A8A9-1F1A2B4F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85950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Planejamento pessoal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885669E-F0D0-48A3-ACCF-F899CB6D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19400"/>
            <a:ext cx="160477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Engajamento social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CBBB283-70DA-4A2B-A6D7-02AD53B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52850"/>
            <a:ext cx="39090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Relação com público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D0907B4-1D4C-4C82-991A-5FD2E94A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Autoconfiança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1555915-1C6A-4B99-8973-B8AA0F1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197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Constância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923128A-4C96-4AA2-BCCC-9F241C16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7150"/>
            <a:ext cx="17830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Qualidade do vínculo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5058C28-7F38-4CCB-BE05-4E2F7923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90600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Humor da equipe</a:t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9D541D32-A508-4601-85AB-0B2168B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Sinal de estresse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AF84C4A-565D-4557-8FE1-F9892A2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Sinal de evolução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7594262-B848-46D3-904E-7DFE147D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876550"/>
            <a:ext cx="11963400" cy="1109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7800" b="1" i="0">
                <a:solidFill>
                  <a:srgbClr val="DADADA">
                    <a:alpha val="92000"/>
                  </a:srgbClr>
                </a:solidFill>
              </a:rPr>
              <a:t>Necessidade de apoio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61DC7E56-4F1A-4D10-BC2B-842E5DB8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Motivação diária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70175C2-B157-49AD-A5F7-8B10B415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57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Escuta ativa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9BD0891-B6C5-4A26-BA51-92C811F6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95250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Conversa difícil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8897D24-C336-466C-9332-B0B5B261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28700"/>
            <a:ext cx="205054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Relacionamento contínuo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7E576B5E-B6B4-4FA8-9220-3E2959E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62150"/>
            <a:ext cx="4526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Acompanhamento próximo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75C2689F-6DD1-4DF2-BC66-F41E0F9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Acolhimento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4D4937A-39B5-445D-A951-9B75C931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29050"/>
            <a:ext cx="43205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Confiança operacional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33B1A7C-F001-4119-9143-671A7A0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62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Orgulho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896CBAF-4C9C-4BB2-85DB-BA986FF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8622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Perturbação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3ED2AFC-E7A3-45BF-AD85-CD3903F0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19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Fadiga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428A4067-D287-4A92-ABF5-2BF4F8C6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953125"/>
            <a:ext cx="411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Comunicação quebrada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3F27CEA-B585-4D7B-8828-3A0F640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05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Risco de ruído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C4E4113-1AC5-472B-AB0F-B31B6FF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3239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Estratégia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8D74393-7797-40F7-A691-4C2866FE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57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Mercado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D8A056F-8F2F-40EE-B295-91E06569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908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Tendências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48E9031-EA3C-4C49-8F5F-5753236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243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Oportunidades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F717291C-4EEC-4ED7-9D7C-095BE1AE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57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Risco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C6C6993-D28C-4D6D-A9F8-B3508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991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Evolução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99FCB6A-AFB2-493A-8FA4-A271E634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Decisão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8511A32-695D-4621-ADF1-A48827E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3620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IA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CB02D710-33A2-4436-91AE-661CFA59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955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Dados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2179B62D-EC74-41BC-AD9C-4151556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289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Contexto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8B48B50E-CE09-4221-9A1C-D3C29B2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"/>
            <a:ext cx="8222742" cy="1162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175" b="1" i="0">
                <a:solidFill>
                  <a:srgbClr val="DADADA">
                    <a:alpha val="92000"/>
                  </a:srgbClr>
                </a:solidFill>
              </a:defRPr>
            </a:pPr>
            <a:r>
              <a:rPr sz="8175" b="1" i="0">
                <a:solidFill>
                  <a:srgbClr val="DADADA">
                    <a:alpha val="92000"/>
                  </a:srgbClr>
                </a:solidFill>
              </a:rPr>
              <a:t>TikTok Shop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4514949-8FC7-422A-B515-9F0B26E8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095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Plataforma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CC1CF07-6EF3-4EFC-83B5-B7AA6AE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29325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Algoritmo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D8C2F27-CD4C-43E4-BC22-9029733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6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Sinal fraco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E5839E0-E4C4-4367-BE6F-CF793AF9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400175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Sinal forte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EEB904F-82E4-4F98-B0DD-949F96E8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333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Nova tabela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DD9B578-075D-4B03-9614-73A894D8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67075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Campanha sazonal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6A5488AC-8619-4F38-B9C1-0E5F3A50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00525"/>
            <a:ext cx="17830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Calendário comercial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7D691D8-9BCB-4570-9820-6F9E5F1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1339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Missão especial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A9701F8-7B95-46CC-A326-2E88F1B3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Benchmark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A043B890-F434-4C10-B5CF-836F2E0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91150"/>
            <a:ext cx="24688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Concorrência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A078CABC-9C6F-4FD0-8B09-6EE743E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24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Posicionamento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1C365D1E-1114-4D1A-A1BF-A94A4935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62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Nicho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4CC34FC-D0E5-41AA-8F38-DCF6638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95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Segmentação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DEE50B1-9723-43E1-ADF5-59B3B62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2890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Cluster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E76091D-859A-496E-AC52-E22E3A76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Persona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2D63430-B949-4B4E-A09F-0CFE6BC8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8516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Audiência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A411D16-738F-4D53-95B9-725BAA45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29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Demanda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297076E-A560-404C-BE3B-2BC08669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362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Oferta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A186E201-6ABF-4FAD-B106-7477EAB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800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Margem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F654EE0-5B94-460E-9500-4B1E4B74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33550"/>
            <a:ext cx="22631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Crescimento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F9B6E0F-F426-4D06-A6D1-3424194F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67000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Receita projetada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6938723-2A88-4B12-B86F-09B9B10C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00450"/>
            <a:ext cx="32918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Meta estratégica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CFCB992-58AD-43D1-B1B9-FDF7AF6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33900"/>
            <a:ext cx="196138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Prioridade estratégica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459007A-E59C-4D94-AA84-01E3439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Roadmap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3E32727F-E4D9-44D2-85C5-FEEC8471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6400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Forecast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FFF680B-1E01-4C91-919B-7B1F7D9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838200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Previsão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4CCA33A5-15B2-41BF-BDE4-D210DE43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71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Cenário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22C061C-AD44-4AAB-977A-8E9E4ECF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05100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Hipótese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A5A775C-883F-4859-A276-FAB7667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Insight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07470BC-01E3-482C-8F79-5D3FCF2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72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Padrão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AE786E5-D3B1-4219-AF66-6DB0B9C2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505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Correlação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0A638AA4-E826-486C-810E-0E4766E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29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Causa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ACFA721-0FF2-4EFE-8274-DD5B475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62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Impacto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20F6AFBF-4341-4CBD-841D-17D1C1C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002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Alavanca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393737D3-9B18-4C57-AF5D-74BC74C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1334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Gargalo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E4DA036-E87E-49B5-94BB-93110255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6692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Eficiência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F883004-DC8A-426F-B6CE-26624E3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00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Escalabilidade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75473D7D-3720-4C76-AF20-B0B56381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05175"/>
            <a:ext cx="5102352" cy="9921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75" b="1" i="0">
                <a:solidFill>
                  <a:srgbClr val="FFFFFF">
                    <a:alpha val="92000"/>
                  </a:srgbClr>
                </a:solidFill>
              </a:defRPr>
            </a:pPr>
            <a:r>
              <a:rPr sz="6975" b="1" i="0">
                <a:solidFill>
                  <a:srgbClr val="FFFFFF">
                    <a:alpha val="92000"/>
                  </a:srgbClr>
                </a:solidFill>
              </a:rPr>
              <a:t>Expansão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3F2EAAF-761B-415D-99EE-B14259CD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67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Capilaridade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C2953213-5F38-4383-874A-CD9C4776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00725"/>
            <a:ext cx="37033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Unidade de negócio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6A61B99-2AB2-4C0F-A625-C9DF41BB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Operação nacional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1E4539E5-6C55-4A53-AED2-AF6093DD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715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Região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987521E-00DA-4868-8676-7887D175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050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Cidade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304F3C2-EDEB-4CDA-AAAB-E1ED2C6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038475"/>
            <a:ext cx="1645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Vertical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FE1DBE53-0FFB-4D58-B6B2-61C09BC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719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Categoria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1D797D5A-6F21-42BE-907B-305BF1FE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05375"/>
            <a:ext cx="14401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Produto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F77009C-7824-4F8C-A864-A7D91335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388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Creator premium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05208F44-D315-41C3-807D-DE7A7D64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6225"/>
            <a:ext cx="34975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Creator emergente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90779237-C53B-4994-A49E-E75427D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096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Long tail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A55F5514-03E7-40AA-8607-811F652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43125"/>
            <a:ext cx="26746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Top performer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7E150DE-E90A-4F8D-A19D-72383F0E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076575"/>
            <a:ext cx="151561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Baixa performance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D3B3687-B5E1-44AC-A2DA-44AA5490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10025"/>
            <a:ext cx="47320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Recuperação estratégica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E956C3C-D898-44F5-9C89-8CEBB1CC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9434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975" b="0" i="0">
                <a:solidFill>
                  <a:srgbClr val="FFFFFF">
                    <a:alpha val="24000"/>
                  </a:srgbClr>
                </a:solidFill>
              </a:rPr>
              <a:t>Aceleração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EDC9CB7-CD35-410E-9F59-F193A53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7692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34000"/>
                  </a:srgbClr>
                </a:solidFill>
              </a:rPr>
              <a:t>Campanha piloto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8C488CB4-ECAA-4629-BBBF-8D36AFAD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00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44000"/>
                  </a:srgbClr>
                </a:solidFill>
              </a:rPr>
              <a:t>Teste controlado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B4B9961-C244-4103-918D-E6B27418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6134100"/>
            <a:ext cx="47320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54000"/>
                  </a:srgbClr>
                </a:solidFill>
              </a:rPr>
              <a:t>Aprendizado estratégico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EDEC5AF-DC51-4137-B804-5C3C57D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1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64000"/>
                  </a:srgbClr>
                </a:solidFill>
              </a:rPr>
              <a:t>Investimento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2825760-2CE0-495B-9198-8B0A48F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504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FFFFF">
                    <a:alpha val="24000"/>
                  </a:srgbClr>
                </a:solidFill>
              </a:defRPr>
            </a:pPr>
            <a:r>
              <a:rPr sz="2250" b="0" i="0">
                <a:solidFill>
                  <a:srgbClr val="FFFFFF">
                    <a:alpha val="24000"/>
                  </a:srgbClr>
                </a:solidFill>
              </a:rPr>
              <a:t>ROI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82C57404-EDF3-48E7-B163-C628DD79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384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3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34000"/>
                  </a:srgbClr>
                </a:solidFill>
              </a:rPr>
              <a:t>CAC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0A5D7C5-2799-4D5B-9D3F-E9CA98E5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4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44000"/>
                  </a:srgbClr>
                </a:solidFill>
              </a:rPr>
              <a:t>LTV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240B85E3-D6FA-498C-AE28-C842FBB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05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ADADA">
                    <a:alpha val="54000"/>
                  </a:srgbClr>
                </a:solidFill>
              </a:defRPr>
            </a:pPr>
            <a:r>
              <a:rPr sz="975" b="0" i="0">
                <a:solidFill>
                  <a:srgbClr val="DADADA">
                    <a:alpha val="54000"/>
                  </a:srgbClr>
                </a:solidFill>
              </a:rPr>
              <a:t>Payback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DF60F2E-DEF0-4071-97E9-9DA88437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2387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DADADA">
                    <a:alpha val="64000"/>
                  </a:srgbClr>
                </a:solidFill>
              </a:defRPr>
            </a:pPr>
            <a:r>
              <a:rPr sz="2250" b="0" i="0">
                <a:solidFill>
                  <a:srgbClr val="DADADA">
                    <a:alpha val="64000"/>
                  </a:srgbClr>
                </a:solidFill>
              </a:rPr>
              <a:t>Budget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9856F58-0188-4CF9-A413-A91A539F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047750"/>
            <a:ext cx="15049500" cy="8953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FFF">
                  <a:alpha val="8000"/>
                </a:srgbClr>
              </a:gs>
              <a:gs pos="72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AF01B08-5435-4F6E-86B3-33E4A6EC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42672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50505">
              <a:alpha val="72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4438E285-2B0F-4958-83B9-922EA502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"/>
            <a:ext cx="3790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</a:defRPr>
            </a:pPr>
            <a:r>
              <a:rPr sz="2700" b="1" i="0">
                <a:solidFill>
                  <a:srgbClr val="FFFFFF"/>
                </a:solidFill>
              </a:rPr>
              <a:t>O caos dos dados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5DD822A0-3908-494E-A13B-66EADD26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7830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6AA23-D14B-4157-9082-0BA1CE44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 i="0">
                <a:solidFill>
                  <a:srgbClr val="050505"/>
                </a:solidFill>
              </a:defRPr>
            </a:pPr>
            <a:r>
              <a:rPr sz="5550" b="1" i="0">
                <a:solidFill>
                  <a:srgbClr val="050505"/>
                </a:solidFill>
              </a:rPr>
              <a:t>O problema nunca foi ter dados.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9594D-B730-448E-B905-903F509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303030"/>
                </a:solidFill>
              </a:defRPr>
            </a:pPr>
            <a:r>
              <a:rPr sz="2925" b="0" i="0">
                <a:solidFill>
                  <a:srgbClr val="303030"/>
                </a:solidFill>
              </a:rPr>
              <a:t>O problema sempre foi transformar dados em decisões.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094A3-D796-49BD-B570-8BEA0E79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59337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ED18F-542F-4A61-B91C-D047B0C8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0E6E86"/>
                </a:solidFill>
              </a:defRPr>
            </a:pPr>
            <a:r>
              <a:rPr sz="6150" b="1" i="0">
                <a:solidFill>
                  <a:srgbClr val="0E6E86"/>
                </a:solidFill>
              </a:rPr>
              <a:t>Dado não é só número.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155BD-C277-4FFA-A0D2-C167439B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303030"/>
                </a:solidFill>
              </a:defRPr>
            </a:pPr>
            <a:r>
              <a:rPr sz="2850" b="0" i="0">
                <a:solidFill>
                  <a:srgbClr val="303030"/>
                </a:solidFill>
              </a:rPr>
              <a:t>Dado é qualquer informação que ajuda a decidir melhor.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396EF-3E25-4A42-A297-38628B69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5046398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2000">
              <a:srgbClr val="090512"/>
            </a:gs>
            <a:gs pos="100000">
              <a:srgbClr val="13091F"/>
            </a:gs>
          </a:gsLst>
          <a:lin ang="69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AE308-6545-4B29-BFB4-E4A76B0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00100"/>
            <a:ext cx="5905500" cy="4953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18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6681-DC42-49FC-8B1B-905575E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Os 3 tipos de dados que olhamos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6E31C-5398-435B-A98D-435F10A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24050"/>
            <a:ext cx="34290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19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EA30B-F8F0-491C-BFDB-E1460CA0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3048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E0E10">
              <a:alpha val="86000"/>
            </a:srgbClr>
          </a:solidFill>
          <a:ln xmlns:a="http://schemas.openxmlformats.org/drawingml/2006/main" w="11430">
            <a:solidFill>
              <a:srgbClr val="75E6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7416A-D425-40D6-8871-6A1822E9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241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75E6FF"/>
                </a:solidFill>
              </a:defRPr>
            </a:pPr>
            <a:r>
              <a:rPr sz="2700" b="1" i="0">
                <a:solidFill>
                  <a:srgbClr val="75E6FF"/>
                </a:solidFill>
              </a:rPr>
              <a:t>Operacionais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86C0D-95D9-42BA-B8D3-DB23D7A8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Diamantes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Horas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Ganhos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BBEC-C906-4679-9EBD-5644528B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24050"/>
            <a:ext cx="34290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8C46D">
                  <a:alpha val="19000"/>
                </a:srgbClr>
              </a:gs>
              <a:gs pos="72000">
                <a:srgbClr val="E8C46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8A410-41AB-4CB9-97EE-013630FB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3048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E0E10">
              <a:alpha val="86000"/>
            </a:srgbClr>
          </a:solidFill>
          <a:ln xmlns:a="http://schemas.openxmlformats.org/drawingml/2006/main" w="11430">
            <a:solidFill>
              <a:srgbClr val="E8C46D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0F286-3114-4178-9745-94E1D958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241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8C46D"/>
                </a:solidFill>
              </a:defRPr>
            </a:pPr>
            <a:r>
              <a:rPr sz="2700" b="1" i="0">
                <a:solidFill>
                  <a:srgbClr val="E8C46D"/>
                </a:solidFill>
              </a:rPr>
              <a:t>Humanos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9C089-AE4A-48B1-9C31-28F21E0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Comportamento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Motivação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Relacionamento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6934A-7FDD-417C-8DDA-E6CEC6D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3429000" cy="3238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B58CFF">
                  <a:alpha val="19000"/>
                </a:srgbClr>
              </a:gs>
              <a:gs pos="72000">
                <a:srgbClr val="B58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C8179-7125-4486-AAE4-88DDA584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0480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E0E10">
              <a:alpha val="86000"/>
            </a:srgbClr>
          </a:solidFill>
          <a:ln xmlns:a="http://schemas.openxmlformats.org/drawingml/2006/main" w="11430">
            <a:solidFill>
              <a:srgbClr val="B58C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1AA83-7F0F-4945-80C0-0B1549B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B58CFF"/>
                </a:solidFill>
              </a:defRPr>
            </a:pPr>
            <a:r>
              <a:rPr sz="2700" b="1" i="0">
                <a:solidFill>
                  <a:srgbClr val="B58CFF"/>
                </a:solidFill>
              </a:rPr>
              <a:t>Estratégicos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31939-2E31-435A-B5EB-D6D680F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Tabelas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Campanhas</a:t>
            </a:r>
          </a:p>
          <a:p xmlns:a="http://schemas.openxmlformats.org/drawingml/2006/main">
            <a:pPr algn="l">
              <a:defRPr sz="1950" b="0" i="0">
                <a:solidFill>
                  <a:srgbClr val="FFFFFF"/>
                </a:solidFill>
              </a:defRPr>
            </a:pPr>
            <a:r>
              <a:rPr sz="1950" b="0" i="0">
                <a:solidFill>
                  <a:srgbClr val="FFFFFF"/>
                </a:solidFill>
              </a:rPr>
              <a:t>Tendências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CBD76-9349-4DE3-B90C-C23EAF02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4220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57D27-5466-4E86-A6C7-B768DAAF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75" b="1" i="0">
                <a:solidFill>
                  <a:srgbClr val="050505"/>
                </a:solidFill>
              </a:defRPr>
            </a:pPr>
            <a:r>
              <a:rPr sz="5175" b="1" i="0">
                <a:solidFill>
                  <a:srgbClr val="050505"/>
                </a:solidFill>
              </a:rPr>
              <a:t>Na Unike, dados também são pessoas.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D3896-C0C9-42A4-B62B-9CC20DB2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303030"/>
                </a:solidFill>
              </a:defRPr>
            </a:pPr>
            <a:r>
              <a:rPr sz="2400" b="0" i="0">
                <a:solidFill>
                  <a:srgbClr val="303030"/>
                </a:solidFill>
              </a:rPr>
              <a:t>Um creator que responde menos.</a:t>
            </a:r>
          </a:p>
          <a:p xmlns:a="http://schemas.openxmlformats.org/drawingml/2006/main">
            <a:pPr algn="ctr">
              <a:defRPr sz="2400" b="0" i="0">
                <a:solidFill>
                  <a:srgbClr val="303030"/>
                </a:solidFill>
              </a:defRPr>
            </a:pPr>
            <a:r>
              <a:rPr sz="2400" b="0" i="0">
                <a:solidFill>
                  <a:srgbClr val="303030"/>
                </a:solidFill>
              </a:rPr>
              <a:t>Um colaborador sobrecarregado.</a:t>
            </a:r>
          </a:p>
          <a:p xmlns:a="http://schemas.openxmlformats.org/drawingml/2006/main">
            <a:pPr algn="ctr">
              <a:defRPr sz="2400" b="0" i="0">
                <a:solidFill>
                  <a:srgbClr val="303030"/>
                </a:solidFill>
              </a:defRPr>
            </a:pPr>
            <a:r>
              <a:rPr sz="2400" b="0" i="0">
                <a:solidFill>
                  <a:srgbClr val="303030"/>
                </a:solidFill>
              </a:rPr>
              <a:t>Uma mudança de comportamento.</a:t>
            </a:r>
          </a:p>
          <a:p xmlns:a="http://schemas.openxmlformats.org/drawingml/2006/main">
            <a:pPr algn="ctr">
              <a:defRPr sz="2400" b="0" i="0">
                <a:solidFill>
                  <a:srgbClr val="303030"/>
                </a:solidFill>
              </a:defRPr>
            </a:pPr>
            <a:r>
              <a:rPr sz="2400" b="0" i="0">
                <a:solidFill>
                  <a:srgbClr val="303030"/>
                </a:solidFill>
              </a:rPr>
              <a:t>Tudo isso é informação.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E1856-3980-49EF-A666-A73BA4F5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86639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CECFB-9A0C-4BF1-A2FF-74A03B2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0E6E86"/>
                </a:solidFill>
              </a:defRPr>
            </a:pPr>
            <a:r>
              <a:rPr sz="5400" b="1" i="0">
                <a:solidFill>
                  <a:srgbClr val="0E6E86"/>
                </a:solidFill>
              </a:rPr>
              <a:t>E dados também são Estratégicos.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72FE-1F8F-47E0-8AA4-503E902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303030"/>
                </a:solidFill>
              </a:defRPr>
            </a:pPr>
            <a:r>
              <a:rPr sz="2550" b="0" i="0">
                <a:solidFill>
                  <a:srgbClr val="303030"/>
                </a:solidFill>
              </a:rPr>
              <a:t>Quando o TikTok muda uma tabela, uma missão ou uma campanha...</a:t>
            </a:r>
          </a:p>
          <a:p xmlns:a="http://schemas.openxmlformats.org/drawingml/2006/main">
            <a:pPr algn="ctr">
              <a:defRPr sz="2550" b="0" i="0">
                <a:solidFill>
                  <a:srgbClr val="303030"/>
                </a:solidFill>
              </a:defRPr>
            </a:pPr>
            <a:r>
              <a:rPr sz="2550" b="0" i="0">
                <a:solidFill>
                  <a:srgbClr val="303030"/>
                </a:solidFill>
              </a:rPr>
              <a:t>...ele está sinalizando oportunidades.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3C055-45D2-4CBD-B24D-107E296D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050505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050505">
                    <a:alpha val="33333"/>
                  </a:srgbClr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2831871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261148"/>
            </a:gs>
            <a:gs pos="70000">
              <a:srgbClr val="050505"/>
            </a:gs>
          </a:gsLst>
          <a:path path="shape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8EBAE-B202-49DC-9546-50FB64F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47750"/>
            <a:ext cx="4191000" cy="4191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23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D3798-BABD-4BA6-84CD-0ACB8BB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144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A filosofia da Unike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C6990-3724-4D11-84F1-A6D0544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337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A7A7A7"/>
                </a:solidFill>
              </a:defRPr>
            </a:pPr>
            <a:r>
              <a:rPr sz="2400" b="0" i="0">
                <a:solidFill>
                  <a:srgbClr val="A7A7A7"/>
                </a:solidFill>
              </a:rPr>
              <a:t>Não queremos transformar Creator Managers em analistas profissionais.</a:t>
            </a:r>
          </a:p>
          <a:p xmlns:a="http://schemas.openxmlformats.org/drawingml/2006/main">
            <a:pPr algn="ctr">
              <a:defRPr sz="2400" b="0" i="0">
                <a:solidFill>
                  <a:srgbClr val="A7A7A7"/>
                </a:solidFill>
              </a:defRPr>
            </a:pPr>
            <a:r>
              <a:rPr sz="2400" b="0" i="0">
                <a:solidFill>
                  <a:srgbClr val="A7A7A7"/>
                </a:solidFill>
              </a:rPr>
              <a:t>Queremos fazer os dados conversarem com quem entende de pessoas.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A100F-D6C3-4EC9-B1A3-7129241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72162162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5000">
              <a:srgbClr val="120C05"/>
            </a:gs>
            <a:gs pos="100000">
              <a:srgbClr val="201503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7F47E-A5A2-4218-BAC2-32E796E7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5191125" cy="3524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8C46D">
                  <a:alpha val="20000"/>
                </a:srgbClr>
              </a:gs>
              <a:gs pos="72000">
                <a:srgbClr val="E8C46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252FD-0E4F-4FE8-B4ED-C40FB42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>
                    <a:alpha val="50196"/>
                  </a:srgbClr>
                </a:solidFill>
              </a:defRPr>
            </a:pPr>
            <a:r>
              <a:rPr sz="1125" b="1" i="0">
                <a:solidFill>
                  <a:srgbClr val="FFFFFF">
                    <a:alpha val="50196"/>
                  </a:srgbClr>
                </a:solidFill>
              </a:rPr>
              <a:t>ENTRADA ANDRESSA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F21B1-0499-44AC-833F-AB757D9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400" b="1" i="0">
                <a:solidFill>
                  <a:srgbClr val="E8C46D"/>
                </a:solidFill>
              </a:defRPr>
            </a:pPr>
            <a:r>
              <a:rPr sz="8400" b="1" i="0">
                <a:solidFill>
                  <a:srgbClr val="E8C46D"/>
                </a:solidFill>
              </a:rPr>
              <a:t>Decisões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FA7CD-97F2-4EBB-8E1B-07448134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62375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Como essa filosofia acontece na prática.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03DAC-25DD-49F5-AA7D-5BA1C1D6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89311691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6000">
              <a:srgbClr val="0B0615"/>
            </a:gs>
            <a:gs pos="100000">
              <a:srgbClr val="16072B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131BD-1B2A-48D3-9BCE-6BD0A13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52500"/>
            <a:ext cx="409575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18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C3BBC-72C6-475C-BCA0-3D99644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Na prática, dados ajudam a enxergar antes.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67517-20C6-4301-B2BD-6565001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Quem precisa de ajuda.</a:t>
            </a:r>
          </a:p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Quem está crescendo.</a:t>
            </a:r>
          </a:p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Quem está em risco.</a:t>
            </a:r>
          </a:p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Quem merece mais atenção.</a:t>
            </a:r>
          </a:p>
          <a:p xmlns:a="http://schemas.openxmlformats.org/drawingml/2006/main">
            <a:pPr algn="ctr">
              <a:defRPr sz="2475" b="0" i="0">
                <a:solidFill>
                  <a:srgbClr val="A7A7A7"/>
                </a:solidFill>
              </a:defRPr>
            </a:pPr>
            <a:r>
              <a:rPr sz="2475" b="0" i="0">
                <a:solidFill>
                  <a:srgbClr val="A7A7A7"/>
                </a:solidFill>
              </a:rPr>
              <a:t>O que precisa mudar?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C425A-BD8A-4C8E-8A5D-0BB82E44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1008918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70000">
              <a:srgbClr val="031014"/>
            </a:gs>
            <a:gs pos="100000">
              <a:srgbClr val="061E2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F81FA-7EA6-4957-995E-BB723F2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57200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16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BB295-70A7-40B0-81E1-38A0258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FFFFFF"/>
                </a:solidFill>
              </a:defRPr>
            </a:pPr>
            <a:r>
              <a:rPr sz="5700" b="1" i="0">
                <a:solidFill>
                  <a:srgbClr val="FFFFFF"/>
                </a:solidFill>
              </a:rPr>
              <a:t>Não analisamos apenas creators.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F4473-667A-4BEC-8CC1-9C7B101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A7A7A7"/>
                </a:solidFill>
              </a:defRPr>
            </a:pPr>
            <a:r>
              <a:rPr sz="2625" b="0" i="0">
                <a:solidFill>
                  <a:srgbClr val="A7A7A7"/>
                </a:solidFill>
              </a:rPr>
              <a:t>Também analisamos colaboradores, processos e sinais da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45B32-34F3-454B-A9E6-70AF0E74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69686645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5000">
              <a:srgbClr val="111006"/>
            </a:gs>
            <a:gs pos="100000">
              <a:srgbClr val="191207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5CB209-9E87-40EA-BB5A-56D5D49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4095750" cy="3714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8C46D">
                  <a:alpha val="14000"/>
                </a:srgbClr>
              </a:gs>
              <a:gs pos="72000">
                <a:srgbClr val="E8C46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7C668-C00A-43C6-8254-B46F743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 i="0">
                <a:solidFill>
                  <a:srgbClr val="FFFFFF"/>
                </a:solidFill>
              </a:defRPr>
            </a:pPr>
            <a:r>
              <a:rPr sz="5550" b="1" i="0">
                <a:solidFill>
                  <a:srgbClr val="FFFFFF"/>
                </a:solidFill>
              </a:rPr>
              <a:t>Ler o TikTok antes dos outros.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B63C7-9D88-4C16-9CBC-2332A6E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A7A7A7"/>
                </a:solidFill>
              </a:defRPr>
            </a:pPr>
            <a:r>
              <a:rPr sz="2325" b="0" i="0">
                <a:solidFill>
                  <a:srgbClr val="A7A7A7"/>
                </a:solidFill>
              </a:rPr>
              <a:t>Cada nova tabela, missão ou campanha mostra o que a plataforma está incentivando.</a:t>
            </a:r>
          </a:p>
          <a:p xmlns:a="http://schemas.openxmlformats.org/drawingml/2006/main">
            <a:pPr algn="ctr">
              <a:defRPr sz="2325" b="0" i="0">
                <a:solidFill>
                  <a:srgbClr val="A7A7A7"/>
                </a:solidFill>
              </a:defRPr>
            </a:pPr>
            <a:r>
              <a:rPr sz="2325" b="0" i="0">
                <a:solidFill>
                  <a:srgbClr val="A7A7A7"/>
                </a:solidFill>
              </a:rPr>
              <a:t>Aprender a interpretar esses sinais cria oportunidades.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B72DB-66F2-4C0F-B4E0-5B264B5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21051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6000">
              <a:srgbClr val="0B0615"/>
            </a:gs>
            <a:gs pos="100000">
              <a:srgbClr val="16072B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DB9A27-C9AD-41AF-A1B5-F22CAC05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4762500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17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B24BF-01B6-4C36-8A67-9CB5559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 i="0">
                <a:solidFill>
                  <a:srgbClr val="FFFFFF"/>
                </a:solidFill>
              </a:defRPr>
            </a:pPr>
            <a:r>
              <a:rPr sz="6450" b="1" i="0">
                <a:solidFill>
                  <a:srgbClr val="FFFFFF"/>
                </a:solidFill>
              </a:rPr>
              <a:t>O desafio é a escala.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3AEEF-E8F8-44B1-A9E7-A4B4170A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6625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A7A7A7"/>
                </a:solidFill>
              </a:defRPr>
            </a:pPr>
            <a:r>
              <a:rPr sz="2550" b="0" i="0">
                <a:solidFill>
                  <a:srgbClr val="A7A7A7"/>
                </a:solidFill>
              </a:rPr>
              <a:t>Quanto maior a operação...</a:t>
            </a:r>
          </a:p>
          <a:p xmlns:a="http://schemas.openxmlformats.org/drawingml/2006/main">
            <a:pPr algn="ctr">
              <a:defRPr sz="2550" b="0" i="0">
                <a:solidFill>
                  <a:srgbClr val="A7A7A7"/>
                </a:solidFill>
              </a:defRPr>
            </a:pPr>
            <a:r>
              <a:rPr sz="2550" b="0" i="0">
                <a:solidFill>
                  <a:srgbClr val="A7A7A7"/>
                </a:solidFill>
              </a:rPr>
              <a:t>...mais difícil fica transformar informação em ação rapidamente.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6FEB1-7E6F-4F80-8AE8-487BB4EF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7578464"/>
      </p:ext>
    </p:extLst>
  </p:cSld>
</p:sld>
</file>

<file path=ppt/slides/slide2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8000">
              <a:srgbClr val="031116"/>
            </a:gs>
            <a:gs pos="100000">
              <a:srgbClr val="061F2B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297C4-E047-4830-A67E-C6D0DD56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47750"/>
            <a:ext cx="4953000" cy="4381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21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DFF93-77BC-43F0-A40B-FAE61D65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450" b="1" i="0">
                <a:solidFill>
                  <a:srgbClr val="FFFFFF"/>
                </a:solidFill>
              </a:defRPr>
            </a:pPr>
            <a:r>
              <a:rPr sz="6450" b="1" i="0">
                <a:solidFill>
                  <a:srgbClr val="FFFFFF"/>
                </a:solidFill>
              </a:rPr>
              <a:t>Foi aí que a IA entrou.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F983F-842B-450D-B08A-6BACA4A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A7A7A7"/>
                </a:solidFill>
              </a:defRPr>
            </a:pPr>
            <a:r>
              <a:rPr sz="2850" b="0" i="0">
                <a:solidFill>
                  <a:srgbClr val="A7A7A7"/>
                </a:solidFill>
              </a:rPr>
              <a:t>Não para substituir pessoas.</a:t>
            </a:r>
          </a:p>
          <a:p xmlns:a="http://schemas.openxmlformats.org/drawingml/2006/main">
            <a:pPr algn="ctr">
              <a:defRPr sz="2850" b="0" i="0">
                <a:solidFill>
                  <a:srgbClr val="A7A7A7"/>
                </a:solidFill>
              </a:defRPr>
            </a:pPr>
            <a:r>
              <a:rPr sz="2850" b="0" i="0">
                <a:solidFill>
                  <a:srgbClr val="A7A7A7"/>
                </a:solidFill>
              </a:rPr>
              <a:t>Para acelerar decisões.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E6E01-9185-477D-9F9E-9FE511E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15361678"/>
      </p:ext>
    </p:extLst>
  </p:cSld>
</p:sld>
</file>

<file path=ppt/slides/slide2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2000">
              <a:srgbClr val="080A0E"/>
            </a:gs>
            <a:gs pos="100000">
              <a:srgbClr val="0B0712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6A593-240D-46AC-834A-78F4BA4F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"/>
            <a:ext cx="4953000" cy="5619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16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A5B36-6D6B-42E8-A6C7-B5F29482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Inteligência Unike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7FFAE-B69A-43E2-B910-61219EA1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A7A7A7"/>
                </a:solidFill>
              </a:defRPr>
            </a:pPr>
            <a:r>
              <a:rPr sz="1725" b="0" i="0">
                <a:solidFill>
                  <a:srgbClr val="A7A7A7"/>
                </a:solidFill>
              </a:rPr>
              <a:t>Como usamos IA hoje a nosso favor.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D9CEC-22C2-439A-90AD-E9E76D9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847725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0B0B0D">
              <a:alpha val="94000"/>
            </a:srgbClr>
          </a:solidFill>
          <a:ln xmlns:a="http://schemas.openxmlformats.org/drawingml/2006/main" w="10478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04967-D350-4960-81F5-DD2D20DD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F76DB-F2F4-4C13-8045-4654E7A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BC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0860A-5472-453A-8504-37C5DA91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C8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1649-3538-42E2-BEB3-F25366B6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8096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3d68d56a64daf"/>
          <a:stretch xmlns:a="http://schemas.openxmlformats.org/drawingml/2006/main"/>
        </p:blipFill>
        <p:spPr>
          <a:xfrm xmlns:a="http://schemas.openxmlformats.org/drawingml/2006/main">
            <a:off x="1017238" y="2143125"/>
            <a:ext cx="7547673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7E097-A936-4CB9-9232-0878FC53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324100" cy="476250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D0D10">
              <a:alpha val="88000"/>
            </a:srgbClr>
          </a:solidFill>
          <a:ln xmlns:a="http://schemas.openxmlformats.org/drawingml/2006/main" w="9525">
            <a:solidFill>
              <a:srgbClr val="FFFFFF">
                <a:alpha val="1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44D20-E8F4-4416-8093-73BC5E17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05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8B5CFF">
              <a:alpha val="17000"/>
            </a:srgbClr>
          </a:solidFill>
          <a:ln xmlns:a="http://schemas.openxmlformats.org/drawingml/2006/main" w="9525">
            <a:solidFill>
              <a:srgbClr val="B58CFF">
                <a:alpha val="7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5B727-78DC-4F10-A320-E0019F75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90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B12A4-34F3-436D-8E53-1C35BE7E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52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CRM Unike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D2778-B278-4A05-AC1D-321E549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905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AB5F3-3C3B-4166-B6B3-2ED74BD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E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24CDA-9300-4754-B018-755186D1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33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D897A-FCB7-46B8-97F8-BAEB2C4A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1905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8C690-4E87-403F-B593-56854FBA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B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F3FB9-8EF1-4B2F-B7ED-9D4201D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5147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Ferramentas Internas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31B92-A904-4A71-ADD5-CD16271A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52900"/>
            <a:ext cx="1905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C49BE-B861-4CDE-A301-AC7BD1C3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F4E04-8ADF-4320-9DDE-E1C1D782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95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Automações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CC1D2-504B-4E7B-A422-8EDE54D6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33950"/>
            <a:ext cx="1905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>
              <a:alpha val="4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FD61A-B264-415E-98B6-83591396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14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2C60E-0460-48C9-9B29-710F638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768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Análise de Dados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DE761-DF04-4DD9-8460-FAB7001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08155375"/>
      </p:ext>
    </p:extLst>
  </p:cSld>
</p:sld>
</file>

<file path=ppt/slides/slide2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70000">
              <a:srgbClr val="031014"/>
            </a:gs>
            <a:gs pos="100000">
              <a:srgbClr val="061E2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663D5-6E38-408F-B3E2-301983B6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24000"/>
            <a:ext cx="4619625" cy="3429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16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7C24D-C3CF-4E15-BB9D-61C5373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IA não faz o trabalho.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C5D55-BEDC-40DA-AAC4-F327E1C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385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A7A7A7"/>
                </a:solidFill>
              </a:defRPr>
            </a:pPr>
            <a:r>
              <a:rPr sz="2850" b="0" i="0">
                <a:solidFill>
                  <a:srgbClr val="A7A7A7"/>
                </a:solidFill>
              </a:rPr>
              <a:t>Ela potencializa quem sabe decidir.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123AD-821A-4818-AAD0-8C029A8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70324676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5000">
              <a:srgbClr val="131108"/>
            </a:gs>
            <a:gs pos="100000">
              <a:srgbClr val="1C150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D1F6AF-1527-46FA-A74E-022A41CA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95350"/>
            <a:ext cx="4381500" cy="39052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6DF9A">
                  <a:alpha val="18000"/>
                </a:srgbClr>
              </a:gs>
              <a:gs pos="72000">
                <a:srgbClr val="F6DF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A342A-47AF-48B4-8DD6-400DC7B9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90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6DF9A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Menos </a:t>
            </a:r>
            <a:r>
              <a:rPr sz="5400" b="1" i="0">
                <a:solidFill>
                  <a:srgbClr val="F6DF9A"/>
                </a:solidFill>
              </a:rPr>
              <a:t>tempo</a:t>
            </a:r>
            <a:r>
              <a:rPr sz="5400" b="1" i="0">
                <a:solidFill>
                  <a:srgbClr val="FFFFFF"/>
                </a:solidFill>
              </a:rPr>
              <a:t> procurando</a:t>
            </a:r>
          </a:p>
          <a:p xmlns:a="http://schemas.openxmlformats.org/drawingml/2006/main">
            <a:pPr algn="ctr">
              <a:defRPr sz="5400" b="1" i="0">
                <a:solidFill>
                  <a:srgbClr val="FFFFFF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informação.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8E1B5-774A-47BD-BC44-DAAFA0A2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A7A7A7"/>
                </a:solidFill>
              </a:defRPr>
            </a:pPr>
            <a:r>
              <a:rPr sz="2850" b="0" i="0">
                <a:solidFill>
                  <a:srgbClr val="A7A7A7"/>
                </a:solidFill>
              </a:rPr>
              <a:t>Mais tempo decidindo o que fazer com ela.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7F504-86B8-4D6E-BC96-85E211B6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85144719"/>
      </p:ext>
    </p:extLst>
  </p:cSld>
</p:sld>
</file>

<file path=ppt/slides/slide2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58000">
              <a:srgbClr val="130D05"/>
            </a:gs>
            <a:gs pos="100000">
              <a:srgbClr val="211505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0A0AD-FEF8-4C4E-90D8-3683E50C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447675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8C46D">
                  <a:alpha val="16000"/>
                </a:srgbClr>
              </a:gs>
              <a:gs pos="72000">
                <a:srgbClr val="E8C46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40FA-1AF7-46D0-92C7-0FCFD45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 i="0">
                <a:solidFill>
                  <a:srgbClr val="FFFFFF"/>
                </a:solidFill>
              </a:defRPr>
            </a:pPr>
            <a:r>
              <a:rPr sz="5550" b="1" i="0">
                <a:solidFill>
                  <a:srgbClr val="FFFFFF"/>
                </a:solidFill>
              </a:rPr>
              <a:t>O que isso muda para vocês?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CECE6-1799-43C0-A255-CA61BC5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A7A7A7"/>
                </a:solidFill>
              </a:defRPr>
            </a:pPr>
            <a:r>
              <a:rPr sz="2400" b="0" i="0">
                <a:solidFill>
                  <a:srgbClr val="A7A7A7"/>
                </a:solidFill>
              </a:rPr>
              <a:t>Quando uma operação já movimenta milhões de diamantes...</a:t>
            </a:r>
          </a:p>
          <a:p xmlns:a="http://schemas.openxmlformats.org/drawingml/2006/main">
            <a:pPr algn="ctr">
              <a:defRPr sz="2400" b="0" i="0">
                <a:solidFill>
                  <a:srgbClr val="A7A7A7"/>
                </a:solidFill>
              </a:defRPr>
            </a:pPr>
            <a:r>
              <a:rPr sz="2400" b="0" i="0">
                <a:solidFill>
                  <a:srgbClr val="A7A7A7"/>
                </a:solidFill>
              </a:rPr>
              <a:t>...a diferença não está apenas em trabalhar mais.</a:t>
            </a:r>
          </a:p>
          <a:p xmlns:a="http://schemas.openxmlformats.org/drawingml/2006/main">
            <a:pPr algn="ctr">
              <a:defRPr sz="2400" b="0" i="0">
                <a:solidFill>
                  <a:srgbClr val="A7A7A7"/>
                </a:solidFill>
              </a:defRPr>
            </a:pPr>
            <a:r>
              <a:rPr sz="2400" b="0" i="0">
                <a:solidFill>
                  <a:srgbClr val="A7A7A7"/>
                </a:solidFill>
              </a:rPr>
              <a:t>Esta em decidir melhor.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CFBE8-D332-4331-9189-8D17E93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50823857"/>
      </p:ext>
    </p:extLst>
  </p:cSld>
</p:sld>
</file>

<file path=ppt/slides/slide2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5000">
              <a:srgbClr val="110F06"/>
            </a:gs>
            <a:gs pos="100000">
              <a:srgbClr val="1A140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2003E-D682-4BA9-9FEF-0DFA88A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43000"/>
            <a:ext cx="5238750" cy="3714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6DF9A">
                  <a:alpha val="19000"/>
                </a:srgbClr>
              </a:gs>
              <a:gs pos="72000">
                <a:srgbClr val="F6DF9A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45B14-2650-4DE6-AB7E-DC35020E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Automatizar a coleta e análise de dados traz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17DD9-7B83-44FB-8824-4CAAEF0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0" b="1" i="0">
                <a:solidFill>
                  <a:srgbClr val="F6DF9A"/>
                </a:solidFill>
              </a:defRPr>
            </a:pPr>
            <a:r>
              <a:rPr sz="9900" b="1" i="0">
                <a:solidFill>
                  <a:srgbClr val="F6DF9A"/>
                </a:solidFill>
              </a:rPr>
              <a:t>TEMPO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D6BBC-E6E9-4A25-AA77-A4C4331D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Tempo para olhar onde realmente importa.</a:t>
            </a:r>
          </a:p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Creators.</a:t>
            </a:r>
          </a:p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Colaboradores.</a:t>
            </a:r>
          </a:p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Oportunidades.</a:t>
            </a:r>
          </a:p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Mudanças do mercado.</a:t>
            </a:r>
          </a:p>
          <a:p xmlns:a="http://schemas.openxmlformats.org/drawingml/2006/main">
            <a:pPr algn="ctr">
              <a:defRPr sz="1875" b="0" i="0">
                <a:solidFill>
                  <a:srgbClr val="A7A7A7"/>
                </a:solidFill>
              </a:defRPr>
            </a:pPr>
            <a:r>
              <a:rPr sz="1875" b="0" i="0">
                <a:solidFill>
                  <a:srgbClr val="A7A7A7"/>
                </a:solidFill>
              </a:rPr>
              <a:t>Tomadas de decisão.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C890F-391F-40BA-A870-FF3FF00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2821666"/>
      </p:ext>
    </p:extLst>
  </p:cSld>
</p:sld>
</file>

<file path=ppt/slides/slide2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66000">
              <a:srgbClr val="0B0615"/>
            </a:gs>
            <a:gs pos="100000">
              <a:srgbClr val="16072B"/>
            </a:gs>
          </a:gsLst>
          <a:lin ang="7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B9883-505E-4552-8820-ACD603A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4095750" cy="4000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17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399D9-539A-4CD4-8C55-566C1D47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FFFFFF"/>
                </a:solidFill>
              </a:defRPr>
            </a:pPr>
            <a:r>
              <a:rPr sz="5400" b="1" i="0">
                <a:solidFill>
                  <a:srgbClr val="FFFFFF"/>
                </a:solidFill>
              </a:rPr>
              <a:t>Tempo para desenvolver creators.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0DDF-873D-4EA5-9C5B-A83A36F4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1470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Tempo para apoiar colaboradores.</a:t>
            </a:r>
          </a:p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Tempo para tomar decisões melhores.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D9E23-571C-4696-A0AD-959F6C21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14441350"/>
      </p:ext>
    </p:extLst>
  </p:cSld>
</p:sld>
</file>

<file path=ppt/slides/slide2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50505"/>
            </a:gs>
            <a:gs pos="70000">
              <a:srgbClr val="031014"/>
            </a:gs>
            <a:gs pos="100000">
              <a:srgbClr val="061E25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2D486-B2CE-476F-8FDF-A6696D4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381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E6FF">
                  <a:alpha val="17000"/>
                </a:srgbClr>
              </a:gs>
              <a:gs pos="72000">
                <a:srgbClr val="75E6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99E95-8A07-4E6D-82AF-9BB2CF18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1059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 i="0">
                <a:solidFill>
                  <a:srgbClr val="FFFFFF"/>
                </a:solidFill>
              </a:defRPr>
            </a:pPr>
            <a:r>
              <a:rPr sz="5850" b="1" i="0">
                <a:solidFill>
                  <a:srgbClr val="FFFFFF"/>
                </a:solidFill>
              </a:rPr>
              <a:t>A maior ferramenta da Unike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E2395-8738-4B34-93B9-E5F3F35C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8991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Nossa experiência...</a:t>
            </a:r>
          </a:p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aliada à IA...</a:t>
            </a:r>
          </a:p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aos dados...</a:t>
            </a:r>
          </a:p>
          <a:p xmlns:a="http://schemas.openxmlformats.org/drawingml/2006/main">
            <a:pPr algn="ctr">
              <a:defRPr sz="2700" b="0" i="0">
                <a:solidFill>
                  <a:srgbClr val="A7A7A7"/>
                </a:solidFill>
              </a:defRPr>
            </a:pPr>
            <a:r>
              <a:rPr sz="2700" b="0" i="0">
                <a:solidFill>
                  <a:srgbClr val="A7A7A7"/>
                </a:solidFill>
              </a:rPr>
              <a:t>e principalmente às pessoas.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09828-616E-4790-83C4-6BC4473F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57471552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454924-7429-4F12-9223-A27366E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57250"/>
            <a:ext cx="5905500" cy="4762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8B5CFF">
                  <a:alpha val="24000"/>
                </a:srgbClr>
              </a:gs>
              <a:gs pos="72000">
                <a:srgbClr val="8B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e43d8bc4a40fb"/>
          <a:stretch xmlns:a="http://schemas.openxmlformats.org/drawingml/2006/main"/>
        </p:blipFill>
        <p:spPr>
          <a:xfrm xmlns:a="http://schemas.openxmlformats.org/drawingml/2006/main">
            <a:off x="3667125" y="904875"/>
            <a:ext cx="4857750" cy="4857750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124DB-8963-4D65-853C-B48107BF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 i="1">
                <a:solidFill>
                  <a:srgbClr val="B58CFF"/>
                </a:solidFill>
              </a:defRPr>
            </a:pPr>
            <a:r>
              <a:rPr sz="2325" b="0" i="1">
                <a:solidFill>
                  <a:srgbClr val="B58CFF"/>
                </a:solidFill>
              </a:rPr>
              <a:t>Ser único é o que nos conecta.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7FB5C-0184-490F-A5E3-F7058ECD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FFFFFF">
                    <a:alpha val="33333"/>
                  </a:srgbClr>
                </a:solidFill>
              </a:defRPr>
            </a:pPr>
            <a:r>
              <a:rPr sz="1050" b="0" i="0">
                <a:solidFill>
                  <a:srgbClr val="FFFFFF">
                    <a:alpha val="33333"/>
                  </a:srgbClr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1871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2026-07-08T00:40:46.2200000Z</dcterms:created>
  <dcterms:modified xsi:type="dcterms:W3CDTF">2026-07-08T00:40:46.2200000Z</dcterms:modified>
</coreProperties>
</file>